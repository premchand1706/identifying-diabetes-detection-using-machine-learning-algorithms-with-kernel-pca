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7" r:id="rId10"/>
    <p:sldId id="261" r:id="rId11"/>
    <p:sldId id="262" r:id="rId12"/>
    <p:sldId id="266" r:id="rId13"/>
    <p:sldId id="263" r:id="rId14"/>
    <p:sldId id="268" r:id="rId15"/>
    <p:sldId id="264" r:id="rId1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5300925925926"/>
          <c:y val="0.00974025974025974"/>
          <c:w val="0.891226851851852"/>
          <c:h val="0.715404040404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00E5FF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E5F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897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D60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B1FA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6282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277BD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558B2F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1200" b="0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Sheet1!$A$2:$A$9</c:f>
              <c:strCache>
                <c:ptCount val="8"/>
                <c:pt idx="0">
                  <c:v>KSVM
(Linear)</c:v>
                </c:pt>
                <c:pt idx="1">
                  <c:v>XGBoost</c:v>
                </c:pt>
                <c:pt idx="2">
                  <c:v>CatBoost</c:v>
                </c:pt>
                <c:pt idx="3">
                  <c:v>AdaBoost</c:v>
                </c:pt>
                <c:pt idx="4">
                  <c:v>Random
Forest</c:v>
                </c:pt>
                <c:pt idx="5">
                  <c:v>SVM
(RBF)</c:v>
                </c:pt>
                <c:pt idx="6">
                  <c:v>KNN</c:v>
                </c:pt>
                <c:pt idx="7">
                  <c:v>LR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100</c:v>
                </c:pt>
                <c:pt idx="1">
                  <c:v>99.4</c:v>
                </c:pt>
                <c:pt idx="2">
                  <c:v>99.1</c:v>
                </c:pt>
                <c:pt idx="3">
                  <c:v>98.7</c:v>
                </c:pt>
                <c:pt idx="4">
                  <c:v>98.2</c:v>
                </c:pt>
                <c:pt idx="5">
                  <c:v>97.8</c:v>
                </c:pt>
                <c:pt idx="6">
                  <c:v>96.5</c:v>
                </c:pt>
                <c:pt idx="7">
                  <c:v>95.3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1200" b="0" i="0" u="none" strike="noStrike" kern="1200" baseline="0">
                <a:solidFill>
                  <a:srgbClr val="B0BEC5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90"/>
        </c:scaling>
        <c:delete val="0"/>
        <c:axPos val="l"/>
        <c:majorGridlines>
          <c:spPr>
            <a:ln w="6350" cap="flat" cmpd="sng" algn="ctr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1200" b="0" i="0" u="none" strike="noStrike" kern="1200" baseline="0">
                <a:solidFill>
                  <a:srgbClr val="B0BEC5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f12f709c-ff40-4a6d-b08f-1053ccd53589}"/>
      </c:ext>
    </c:extLst>
  </c:chart>
  <c:spPr>
    <a:solidFill>
      <a:srgbClr val="0D2137"/>
    </a:solidFill>
    <a:ln>
      <a:noFill/>
    </a:ln>
    <a:effectLst/>
  </c:spPr>
  <c:txPr>
    <a:bodyPr/>
    <a:lstStyle/>
    <a:p>
      <a:pPr>
        <a:defRPr lang="en-GB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image" Target="../media/image1.png"/><Relationship Id="rId3" Type="http://schemas.openxmlformats.org/officeDocument/2006/relationships/tags" Target="../tags/tag5.xml"/><Relationship Id="rId27" Type="http://schemas.openxmlformats.org/officeDocument/2006/relationships/notesSlide" Target="../notesSlides/notesSlide3.xml"/><Relationship Id="rId26" Type="http://schemas.openxmlformats.org/officeDocument/2006/relationships/slideLayout" Target="../slideLayouts/slideLayout1.xml"/><Relationship Id="rId25" Type="http://schemas.openxmlformats.org/officeDocument/2006/relationships/tags" Target="../tags/tag26.xml"/><Relationship Id="rId24" Type="http://schemas.openxmlformats.org/officeDocument/2006/relationships/tags" Target="../tags/tag25.xml"/><Relationship Id="rId23" Type="http://schemas.openxmlformats.org/officeDocument/2006/relationships/tags" Target="../tags/tag24.xml"/><Relationship Id="rId22" Type="http://schemas.openxmlformats.org/officeDocument/2006/relationships/tags" Target="../tags/tag23.xml"/><Relationship Id="rId21" Type="http://schemas.openxmlformats.org/officeDocument/2006/relationships/tags" Target="../tags/tag22.xml"/><Relationship Id="rId20" Type="http://schemas.openxmlformats.org/officeDocument/2006/relationships/tags" Target="../tags/tag21.xml"/><Relationship Id="rId2" Type="http://schemas.openxmlformats.org/officeDocument/2006/relationships/tags" Target="../tags/tag4.xml"/><Relationship Id="rId19" Type="http://schemas.openxmlformats.org/officeDocument/2006/relationships/tags" Target="../tags/tag20.xml"/><Relationship Id="rId18" Type="http://schemas.openxmlformats.org/officeDocument/2006/relationships/tags" Target="../tags/tag19.xml"/><Relationship Id="rId17" Type="http://schemas.openxmlformats.org/officeDocument/2006/relationships/tags" Target="../tags/tag18.xml"/><Relationship Id="rId16" Type="http://schemas.openxmlformats.org/officeDocument/2006/relationships/tags" Target="../tags/tag17.xml"/><Relationship Id="rId15" Type="http://schemas.openxmlformats.org/officeDocument/2006/relationships/tags" Target="../tags/tag16.xml"/><Relationship Id="rId14" Type="http://schemas.openxmlformats.org/officeDocument/2006/relationships/tags" Target="../tags/tag15.xml"/><Relationship Id="rId13" Type="http://schemas.openxmlformats.org/officeDocument/2006/relationships/tags" Target="../tags/tag14.xml"/><Relationship Id="rId12" Type="http://schemas.openxmlformats.org/officeDocument/2006/relationships/tags" Target="../tags/tag13.xml"/><Relationship Id="rId11" Type="http://schemas.openxmlformats.org/officeDocument/2006/relationships/tags" Target="../tags/tag12.xml"/><Relationship Id="rId10" Type="http://schemas.openxmlformats.org/officeDocument/2006/relationships/tags" Target="../tags/tag11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0" Type="http://schemas.openxmlformats.org/officeDocument/2006/relationships/notesSlide" Target="../notesSlides/notesSlide4.xml"/><Relationship Id="rId5" Type="http://schemas.openxmlformats.org/officeDocument/2006/relationships/tags" Target="../tags/tag31.xml"/><Relationship Id="rId49" Type="http://schemas.openxmlformats.org/officeDocument/2006/relationships/slideLayout" Target="../slideLayouts/slideLayout1.xml"/><Relationship Id="rId48" Type="http://schemas.openxmlformats.org/officeDocument/2006/relationships/tags" Target="../tags/tag74.xml"/><Relationship Id="rId47" Type="http://schemas.openxmlformats.org/officeDocument/2006/relationships/tags" Target="../tags/tag73.xml"/><Relationship Id="rId46" Type="http://schemas.openxmlformats.org/officeDocument/2006/relationships/tags" Target="../tags/tag72.xml"/><Relationship Id="rId45" Type="http://schemas.openxmlformats.org/officeDocument/2006/relationships/tags" Target="../tags/tag71.xml"/><Relationship Id="rId44" Type="http://schemas.openxmlformats.org/officeDocument/2006/relationships/tags" Target="../tags/tag70.xml"/><Relationship Id="rId43" Type="http://schemas.openxmlformats.org/officeDocument/2006/relationships/tags" Target="../tags/tag69.xml"/><Relationship Id="rId42" Type="http://schemas.openxmlformats.org/officeDocument/2006/relationships/tags" Target="../tags/tag68.xml"/><Relationship Id="rId41" Type="http://schemas.openxmlformats.org/officeDocument/2006/relationships/tags" Target="../tags/tag67.xml"/><Relationship Id="rId40" Type="http://schemas.openxmlformats.org/officeDocument/2006/relationships/tags" Target="../tags/tag66.xml"/><Relationship Id="rId4" Type="http://schemas.openxmlformats.org/officeDocument/2006/relationships/tags" Target="../tags/tag30.xml"/><Relationship Id="rId39" Type="http://schemas.openxmlformats.org/officeDocument/2006/relationships/tags" Target="../tags/tag65.xml"/><Relationship Id="rId38" Type="http://schemas.openxmlformats.org/officeDocument/2006/relationships/tags" Target="../tags/tag64.xml"/><Relationship Id="rId37" Type="http://schemas.openxmlformats.org/officeDocument/2006/relationships/tags" Target="../tags/tag63.xml"/><Relationship Id="rId36" Type="http://schemas.openxmlformats.org/officeDocument/2006/relationships/tags" Target="../tags/tag62.xml"/><Relationship Id="rId35" Type="http://schemas.openxmlformats.org/officeDocument/2006/relationships/tags" Target="../tags/tag61.xml"/><Relationship Id="rId34" Type="http://schemas.openxmlformats.org/officeDocument/2006/relationships/tags" Target="../tags/tag60.xml"/><Relationship Id="rId33" Type="http://schemas.openxmlformats.org/officeDocument/2006/relationships/tags" Target="../tags/tag59.xml"/><Relationship Id="rId32" Type="http://schemas.openxmlformats.org/officeDocument/2006/relationships/tags" Target="../tags/tag58.xml"/><Relationship Id="rId31" Type="http://schemas.openxmlformats.org/officeDocument/2006/relationships/tags" Target="../tags/tag57.xml"/><Relationship Id="rId30" Type="http://schemas.openxmlformats.org/officeDocument/2006/relationships/tags" Target="../tags/tag56.xml"/><Relationship Id="rId3" Type="http://schemas.openxmlformats.org/officeDocument/2006/relationships/tags" Target="../tags/tag29.xml"/><Relationship Id="rId29" Type="http://schemas.openxmlformats.org/officeDocument/2006/relationships/tags" Target="../tags/tag55.xml"/><Relationship Id="rId28" Type="http://schemas.openxmlformats.org/officeDocument/2006/relationships/tags" Target="../tags/tag54.xml"/><Relationship Id="rId27" Type="http://schemas.openxmlformats.org/officeDocument/2006/relationships/tags" Target="../tags/tag53.xml"/><Relationship Id="rId26" Type="http://schemas.openxmlformats.org/officeDocument/2006/relationships/tags" Target="../tags/tag52.xml"/><Relationship Id="rId25" Type="http://schemas.openxmlformats.org/officeDocument/2006/relationships/tags" Target="../tags/tag51.xml"/><Relationship Id="rId24" Type="http://schemas.openxmlformats.org/officeDocument/2006/relationships/tags" Target="../tags/tag50.xml"/><Relationship Id="rId23" Type="http://schemas.openxmlformats.org/officeDocument/2006/relationships/tags" Target="../tags/tag49.xml"/><Relationship Id="rId22" Type="http://schemas.openxmlformats.org/officeDocument/2006/relationships/tags" Target="../tags/tag48.xml"/><Relationship Id="rId21" Type="http://schemas.openxmlformats.org/officeDocument/2006/relationships/tags" Target="../tags/tag47.xml"/><Relationship Id="rId20" Type="http://schemas.openxmlformats.org/officeDocument/2006/relationships/tags" Target="../tags/tag46.xml"/><Relationship Id="rId2" Type="http://schemas.openxmlformats.org/officeDocument/2006/relationships/tags" Target="../tags/tag28.xml"/><Relationship Id="rId19" Type="http://schemas.openxmlformats.org/officeDocument/2006/relationships/tags" Target="../tags/tag45.xml"/><Relationship Id="rId18" Type="http://schemas.openxmlformats.org/officeDocument/2006/relationships/tags" Target="../tags/tag44.xml"/><Relationship Id="rId17" Type="http://schemas.openxmlformats.org/officeDocument/2006/relationships/tags" Target="../tags/tag43.xml"/><Relationship Id="rId16" Type="http://schemas.openxmlformats.org/officeDocument/2006/relationships/tags" Target="../tags/tag42.xml"/><Relationship Id="rId15" Type="http://schemas.openxmlformats.org/officeDocument/2006/relationships/tags" Target="../tags/tag41.xml"/><Relationship Id="rId14" Type="http://schemas.openxmlformats.org/officeDocument/2006/relationships/tags" Target="../tags/tag40.xml"/><Relationship Id="rId13" Type="http://schemas.openxmlformats.org/officeDocument/2006/relationships/tags" Target="../tags/tag39.xml"/><Relationship Id="rId12" Type="http://schemas.openxmlformats.org/officeDocument/2006/relationships/tags" Target="../tags/tag38.xml"/><Relationship Id="rId11" Type="http://schemas.openxmlformats.org/officeDocument/2006/relationships/tags" Target="../tags/tag37.xml"/><Relationship Id="rId10" Type="http://schemas.openxmlformats.org/officeDocument/2006/relationships/tags" Target="../tags/tag36.xml"/><Relationship Id="rId1" Type="http://schemas.openxmlformats.org/officeDocument/2006/relationships/tags" Target="../tags/tag27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image" Target="../media/image3.png"/><Relationship Id="rId7" Type="http://schemas.openxmlformats.org/officeDocument/2006/relationships/tags" Target="../tags/tag80.xml"/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5" Type="http://schemas.openxmlformats.org/officeDocument/2006/relationships/notesSlide" Target="../notesSlides/notesSlide5.xml"/><Relationship Id="rId44" Type="http://schemas.openxmlformats.org/officeDocument/2006/relationships/slideLayout" Target="../slideLayouts/slideLayout1.xml"/><Relationship Id="rId43" Type="http://schemas.openxmlformats.org/officeDocument/2006/relationships/tags" Target="../tags/tag109.xml"/><Relationship Id="rId42" Type="http://schemas.openxmlformats.org/officeDocument/2006/relationships/image" Target="../media/image9.png"/><Relationship Id="rId41" Type="http://schemas.openxmlformats.org/officeDocument/2006/relationships/tags" Target="../tags/tag108.xml"/><Relationship Id="rId40" Type="http://schemas.openxmlformats.org/officeDocument/2006/relationships/tags" Target="../tags/tag107.xml"/><Relationship Id="rId4" Type="http://schemas.openxmlformats.org/officeDocument/2006/relationships/tags" Target="../tags/tag77.xml"/><Relationship Id="rId39" Type="http://schemas.openxmlformats.org/officeDocument/2006/relationships/tags" Target="../tags/tag106.xml"/><Relationship Id="rId38" Type="http://schemas.openxmlformats.org/officeDocument/2006/relationships/image" Target="../media/image8.png"/><Relationship Id="rId37" Type="http://schemas.openxmlformats.org/officeDocument/2006/relationships/tags" Target="../tags/tag105.xml"/><Relationship Id="rId36" Type="http://schemas.openxmlformats.org/officeDocument/2006/relationships/tags" Target="../tags/tag104.xml"/><Relationship Id="rId35" Type="http://schemas.openxmlformats.org/officeDocument/2006/relationships/tags" Target="../tags/tag103.xml"/><Relationship Id="rId34" Type="http://schemas.openxmlformats.org/officeDocument/2006/relationships/tags" Target="../tags/tag102.xml"/><Relationship Id="rId33" Type="http://schemas.openxmlformats.org/officeDocument/2006/relationships/tags" Target="../tags/tag101.xml"/><Relationship Id="rId32" Type="http://schemas.openxmlformats.org/officeDocument/2006/relationships/image" Target="../media/image7.png"/><Relationship Id="rId31" Type="http://schemas.openxmlformats.org/officeDocument/2006/relationships/tags" Target="../tags/tag100.xml"/><Relationship Id="rId30" Type="http://schemas.openxmlformats.org/officeDocument/2006/relationships/tags" Target="../tags/tag99.xml"/><Relationship Id="rId3" Type="http://schemas.openxmlformats.org/officeDocument/2006/relationships/image" Target="../media/image2.png"/><Relationship Id="rId29" Type="http://schemas.openxmlformats.org/officeDocument/2006/relationships/tags" Target="../tags/tag98.xml"/><Relationship Id="rId28" Type="http://schemas.openxmlformats.org/officeDocument/2006/relationships/tags" Target="../tags/tag97.xml"/><Relationship Id="rId27" Type="http://schemas.openxmlformats.org/officeDocument/2006/relationships/tags" Target="../tags/tag96.xml"/><Relationship Id="rId26" Type="http://schemas.openxmlformats.org/officeDocument/2006/relationships/image" Target="../media/image6.png"/><Relationship Id="rId25" Type="http://schemas.openxmlformats.org/officeDocument/2006/relationships/tags" Target="../tags/tag95.xml"/><Relationship Id="rId24" Type="http://schemas.openxmlformats.org/officeDocument/2006/relationships/tags" Target="../tags/tag94.xml"/><Relationship Id="rId23" Type="http://schemas.openxmlformats.org/officeDocument/2006/relationships/tags" Target="../tags/tag93.xml"/><Relationship Id="rId22" Type="http://schemas.openxmlformats.org/officeDocument/2006/relationships/tags" Target="../tags/tag92.xml"/><Relationship Id="rId21" Type="http://schemas.openxmlformats.org/officeDocument/2006/relationships/tags" Target="../tags/tag91.xml"/><Relationship Id="rId20" Type="http://schemas.openxmlformats.org/officeDocument/2006/relationships/image" Target="../media/image5.png"/><Relationship Id="rId2" Type="http://schemas.openxmlformats.org/officeDocument/2006/relationships/tags" Target="../tags/tag76.xml"/><Relationship Id="rId19" Type="http://schemas.openxmlformats.org/officeDocument/2006/relationships/tags" Target="../tags/tag90.xml"/><Relationship Id="rId18" Type="http://schemas.openxmlformats.org/officeDocument/2006/relationships/tags" Target="../tags/tag89.xml"/><Relationship Id="rId17" Type="http://schemas.openxmlformats.org/officeDocument/2006/relationships/tags" Target="../tags/tag88.xml"/><Relationship Id="rId16" Type="http://schemas.openxmlformats.org/officeDocument/2006/relationships/tags" Target="../tags/tag87.xml"/><Relationship Id="rId15" Type="http://schemas.openxmlformats.org/officeDocument/2006/relationships/tags" Target="../tags/tag86.xml"/><Relationship Id="rId14" Type="http://schemas.openxmlformats.org/officeDocument/2006/relationships/image" Target="../media/image4.png"/><Relationship Id="rId13" Type="http://schemas.openxmlformats.org/officeDocument/2006/relationships/tags" Target="../tags/tag85.xml"/><Relationship Id="rId12" Type="http://schemas.openxmlformats.org/officeDocument/2006/relationships/tags" Target="../tags/tag84.xml"/><Relationship Id="rId11" Type="http://schemas.openxmlformats.org/officeDocument/2006/relationships/tags" Target="../tags/tag83.xml"/><Relationship Id="rId10" Type="http://schemas.openxmlformats.org/officeDocument/2006/relationships/tags" Target="../tags/tag82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0"/>
            <a:ext cx="36576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23760" y="320040"/>
            <a:ext cx="201168" cy="201168"/>
          </a:xfrm>
          <a:prstGeom prst="ellipse">
            <a:avLst/>
          </a:prstGeom>
          <a:solidFill>
            <a:srgbClr val="00897B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704088"/>
            <a:ext cx="201168" cy="201168"/>
          </a:xfrm>
          <a:prstGeom prst="ellipse">
            <a:avLst/>
          </a:prstGeom>
          <a:solidFill>
            <a:srgbClr val="00E5FF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0" y="1088136"/>
            <a:ext cx="201168" cy="201168"/>
          </a:xfrm>
          <a:prstGeom prst="ellipse">
            <a:avLst/>
          </a:prstGeom>
          <a:solidFill>
            <a:srgbClr val="1565C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0" y="1472184"/>
            <a:ext cx="201168" cy="201168"/>
          </a:xfrm>
          <a:prstGeom prst="ellipse">
            <a:avLst/>
          </a:prstGeom>
          <a:solidFill>
            <a:srgbClr val="00897B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23760" y="1856232"/>
            <a:ext cx="201168" cy="201168"/>
          </a:xfrm>
          <a:prstGeom prst="ellipse">
            <a:avLst/>
          </a:prstGeom>
          <a:solidFill>
            <a:srgbClr val="00E5FF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0" y="2240280"/>
            <a:ext cx="201168" cy="201168"/>
          </a:xfrm>
          <a:prstGeom prst="ellipse">
            <a:avLst/>
          </a:prstGeom>
          <a:solidFill>
            <a:srgbClr val="1565C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0" y="2624328"/>
            <a:ext cx="201168" cy="201168"/>
          </a:xfrm>
          <a:prstGeom prst="ellipse">
            <a:avLst/>
          </a:prstGeom>
          <a:solidFill>
            <a:srgbClr val="00897B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0" y="3008376"/>
            <a:ext cx="201168" cy="201168"/>
          </a:xfrm>
          <a:prstGeom prst="ellipse">
            <a:avLst/>
          </a:prstGeom>
          <a:solidFill>
            <a:srgbClr val="00E5FF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23760" y="3392424"/>
            <a:ext cx="201168" cy="201168"/>
          </a:xfrm>
          <a:prstGeom prst="ellipse">
            <a:avLst/>
          </a:prstGeom>
          <a:solidFill>
            <a:srgbClr val="1565C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0" y="3776472"/>
            <a:ext cx="201168" cy="201168"/>
          </a:xfrm>
          <a:prstGeom prst="ellipse">
            <a:avLst/>
          </a:prstGeom>
          <a:solidFill>
            <a:srgbClr val="00897B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23760" y="4160520"/>
            <a:ext cx="201168" cy="201168"/>
          </a:xfrm>
          <a:prstGeom prst="ellipse">
            <a:avLst/>
          </a:prstGeom>
          <a:solidFill>
            <a:srgbClr val="00E5FF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0" y="4544568"/>
            <a:ext cx="201168" cy="201168"/>
          </a:xfrm>
          <a:prstGeom prst="ellipse">
            <a:avLst/>
          </a:prstGeom>
          <a:solidFill>
            <a:srgbClr val="1565C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0055" y="158115"/>
            <a:ext cx="6297930" cy="14439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GB" sz="4400" b="1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Detection of Diabetes using Machine Learning</a:t>
            </a:r>
            <a:endParaRPr lang="en-US" altLang="en-GB" sz="4400" b="1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48640" y="1444752"/>
            <a:ext cx="6126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548640" y="2148840"/>
            <a:ext cx="6126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074420" y="1692148"/>
            <a:ext cx="5029200" cy="36576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p>
            <a:endParaRPr lang="en-GB" altLang="en-US"/>
          </a:p>
        </p:txBody>
      </p:sp>
      <p:sp>
        <p:nvSpPr>
          <p:cNvPr id="23" name="Text 21"/>
          <p:cNvSpPr/>
          <p:nvPr/>
        </p:nvSpPr>
        <p:spPr>
          <a:xfrm>
            <a:off x="2442845" y="1889760"/>
            <a:ext cx="2158365" cy="551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Under the Guidance of</a:t>
            </a:r>
            <a:endParaRPr lang="en-US" sz="1700" b="1" dirty="0">
              <a:solidFill>
                <a:srgbClr val="B0BEC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1700" b="1" dirty="0">
                <a:solidFill>
                  <a:srgbClr val="FFD6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Dr. Suriya Prakash J</a:t>
            </a:r>
            <a:endParaRPr lang="en-US" sz="1700" b="1" dirty="0">
              <a:solidFill>
                <a:srgbClr val="B0BEC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011295" y="3350260"/>
            <a:ext cx="15919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89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Members</a:t>
            </a:r>
            <a:endParaRPr lang="en-US" sz="1600" b="1" dirty="0"/>
          </a:p>
        </p:txBody>
      </p:sp>
      <p:sp>
        <p:nvSpPr>
          <p:cNvPr id="26" name="Text 24"/>
          <p:cNvSpPr/>
          <p:nvPr/>
        </p:nvSpPr>
        <p:spPr>
          <a:xfrm>
            <a:off x="4086225" y="3593465"/>
            <a:ext cx="2202180" cy="12687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P</a:t>
            </a:r>
            <a:r>
              <a:rPr lang="en-GB" alt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remchand	      </a:t>
            </a: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– 23BTRCT074</a:t>
            </a:r>
            <a:endParaRPr lang="en-US" sz="13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S</a:t>
            </a:r>
            <a:r>
              <a:rPr lang="en-US" altLang="en-GB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alva Abilash</a:t>
            </a: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 </a:t>
            </a:r>
            <a:r>
              <a:rPr lang="en-GB" alt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    </a:t>
            </a: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– 23BTRCT117</a:t>
            </a:r>
            <a:endParaRPr lang="en-US" sz="1300" b="1" dirty="0"/>
          </a:p>
          <a:p>
            <a:pPr marL="0" indent="0">
              <a:buNone/>
            </a:pPr>
            <a:r>
              <a:rPr lang="en-US" altLang="en-GB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Tejaswanth</a:t>
            </a: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</a:t>
            </a:r>
            <a:r>
              <a:rPr lang="en-GB" alt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        </a:t>
            </a: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– 23BTRCT133</a:t>
            </a:r>
            <a:endParaRPr lang="en-US" sz="13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pPr marL="0" indent="0">
              <a:buNone/>
            </a:pPr>
            <a:r>
              <a:rPr lang="en-US" altLang="en-GB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Sai Sanjay</a:t>
            </a:r>
            <a:r>
              <a:rPr lang="en-GB" alt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        </a:t>
            </a: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</a:t>
            </a:r>
            <a:r>
              <a:rPr lang="en-GB" alt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 </a:t>
            </a: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– 23BTRCT011</a:t>
            </a:r>
            <a:endParaRPr lang="en-US" sz="1300" b="1" dirty="0"/>
          </a:p>
          <a:p>
            <a:pPr marL="0" indent="0">
              <a:buNone/>
            </a:pPr>
            <a:r>
              <a:rPr lang="en-US" altLang="en-GB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Rithika</a:t>
            </a: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</a:t>
            </a:r>
            <a:r>
              <a:rPr lang="en-GB" alt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                </a:t>
            </a: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– 23BTRCT122</a:t>
            </a:r>
            <a:endParaRPr lang="en-US" sz="13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YASWANTH  </a:t>
            </a:r>
            <a:r>
              <a:rPr lang="en-GB" alt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       </a:t>
            </a: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– 23BTRCT111</a:t>
            </a:r>
            <a:endParaRPr lang="en-US" sz="1300" b="1" dirty="0"/>
          </a:p>
        </p:txBody>
      </p:sp>
      <p:sp>
        <p:nvSpPr>
          <p:cNvPr id="32" name="Text 30"/>
          <p:cNvSpPr/>
          <p:nvPr/>
        </p:nvSpPr>
        <p:spPr>
          <a:xfrm>
            <a:off x="6949440" y="1097280"/>
            <a:ext cx="2011680" cy="109728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49440" y="2377440"/>
            <a:ext cx="2011680" cy="82296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949440" y="438912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7" name="Shape 6"/>
          <p:cNvSpPr/>
          <p:nvPr/>
        </p:nvSpPr>
        <p:spPr>
          <a:xfrm>
            <a:off x="2766060" y="2861945"/>
            <a:ext cx="1645920" cy="3657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p>
            <a:pPr marL="0" indent="0" algn="ctr">
              <a:buNone/>
            </a:pPr>
            <a:r>
              <a:rPr lang="en-US" altLang="en-GB" sz="1600" b="1" dirty="0">
                <a:solidFill>
                  <a:srgbClr val="FFFFFF"/>
                </a:solidFill>
                <a:sym typeface="+mn-ea"/>
              </a:rPr>
              <a:t>CoEPCL-0224</a:t>
            </a:r>
            <a:endParaRPr lang="en-US" altLang="en-GB" sz="1600" b="1" dirty="0">
              <a:solidFill>
                <a:srgbClr val="FFFFFF"/>
              </a:solidFill>
              <a:sym typeface="+mn-ea"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1235710" y="2441575"/>
            <a:ext cx="4572000" cy="529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950" dirty="0">
                <a:solidFill>
                  <a:schemeClr val="bg1"/>
                </a:solidFill>
                <a:sym typeface="+mn-ea"/>
              </a:rPr>
              <a:t>JAIN (Deemed-to-be-University), Bengaluru</a:t>
            </a:r>
            <a:endParaRPr lang="en-US" sz="950" dirty="0">
              <a:solidFill>
                <a:schemeClr val="bg1"/>
              </a:solidFill>
              <a:sym typeface="+mn-ea"/>
            </a:endParaRPr>
          </a:p>
          <a:p>
            <a:pPr algn="ctr"/>
            <a:r>
              <a:rPr lang="en-US" sz="950" dirty="0">
                <a:solidFill>
                  <a:schemeClr val="bg1"/>
                </a:solidFill>
                <a:sym typeface="+mn-ea"/>
              </a:rPr>
              <a:t>Organized by: Dept. of CSE</a:t>
            </a:r>
            <a:endParaRPr lang="en-US" sz="950" dirty="0">
              <a:solidFill>
                <a:schemeClr val="bg1"/>
              </a:solidFill>
            </a:endParaRPr>
          </a:p>
          <a:p>
            <a:pPr algn="ctr"/>
            <a:endParaRPr lang="en-US" altLang="en-US" sz="950" dirty="0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10058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6858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4991735"/>
            <a:ext cx="9144000" cy="147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7" name="Text 13"/>
          <p:cNvSpPr/>
          <p:nvPr>
            <p:custDataLst>
              <p:tags r:id="rId1"/>
            </p:custDataLst>
          </p:nvPr>
        </p:nvSpPr>
        <p:spPr>
          <a:xfrm>
            <a:off x="3392424" y="2450592"/>
            <a:ext cx="2505456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21" name="Text 16"/>
          <p:cNvSpPr/>
          <p:nvPr>
            <p:custDataLst>
              <p:tags r:id="rId2"/>
            </p:custDataLst>
          </p:nvPr>
        </p:nvSpPr>
        <p:spPr>
          <a:xfrm>
            <a:off x="6318504" y="1993392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5" name="Text Box 24"/>
          <p:cNvSpPr txBox="1"/>
          <p:nvPr/>
        </p:nvSpPr>
        <p:spPr>
          <a:xfrm>
            <a:off x="274955" y="1295400"/>
            <a:ext cx="8485505" cy="3322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 algn="just">
              <a:buSzPct val="80000"/>
              <a:buFont typeface="Arial" panose="020B0604020202020204" pitchFamily="34" charset="0"/>
              <a:buChar char="•"/>
            </a:pPr>
            <a:r>
              <a:rPr lang="en-US" altLang="en-GB" sz="2100">
                <a:latin typeface="Times New Roman" panose="02020603050405020304" charset="0"/>
                <a:cs typeface="Times New Roman" panose="02020603050405020304" charset="0"/>
                <a:sym typeface="+mn-ea"/>
              </a:rPr>
              <a:t>Diabetes is a major global health concern requiring early diagnosis.</a:t>
            </a:r>
            <a:endParaRPr lang="en-US" altLang="en-GB" sz="21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285750" indent="-285750" algn="just">
              <a:buSzPct val="80000"/>
              <a:buFont typeface="Arial" panose="020B0604020202020204" pitchFamily="34" charset="0"/>
              <a:buChar char="•"/>
            </a:pPr>
            <a:r>
              <a:rPr lang="en-US" altLang="en-GB" sz="21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Today, diabetes tests need blood samples and many hospital visits.</a:t>
            </a:r>
            <a:endParaRPr lang="en-US" altLang="en-GB" sz="21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just">
              <a:buSzPct val="80000"/>
              <a:buFont typeface="Arial" panose="020B0604020202020204" pitchFamily="34" charset="0"/>
              <a:buChar char="•"/>
            </a:pPr>
            <a:r>
              <a:rPr lang="en-US" altLang="en-GB" sz="21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These methods are difficult for people in villages or poor areas.</a:t>
            </a:r>
            <a:endParaRPr lang="en-US" altLang="en-GB" sz="21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just">
              <a:buSzPct val="80000"/>
              <a:buFont typeface="Arial" panose="020B0604020202020204" pitchFamily="34" charset="0"/>
              <a:buChar char="•"/>
            </a:pPr>
            <a:r>
              <a:rPr lang="en-US" altLang="en-GB" sz="2100">
                <a:latin typeface="Times New Roman" panose="02020603050405020304" charset="0"/>
                <a:cs typeface="Times New Roman" panose="02020603050405020304" charset="0"/>
                <a:sym typeface="+mn-ea"/>
              </a:rPr>
              <a:t>Our project uses machine learning to detect diabetes automatically.</a:t>
            </a:r>
            <a:endParaRPr lang="en-US" altLang="en-GB" sz="21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just">
              <a:buSzPct val="80000"/>
              <a:buFont typeface="Arial" panose="020B0604020202020204" pitchFamily="34" charset="0"/>
              <a:buChar char="•"/>
            </a:pPr>
            <a:r>
              <a:rPr lang="en-US" altLang="en-GB" sz="2100">
                <a:latin typeface="Times New Roman" panose="02020603050405020304" charset="0"/>
                <a:cs typeface="Times New Roman" panose="02020603050405020304" charset="0"/>
                <a:sym typeface="+mn-ea"/>
              </a:rPr>
              <a:t>We tested 15 different computer models to see which one works best.</a:t>
            </a:r>
            <a:endParaRPr lang="en-US" altLang="en-GB" sz="21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just">
              <a:buSzPct val="80000"/>
              <a:buFont typeface="Arial" panose="020B0604020202020204" pitchFamily="34" charset="0"/>
              <a:buChar char="•"/>
            </a:pPr>
            <a:r>
              <a:rPr lang="en-US" altLang="en-GB" sz="2100">
                <a:latin typeface="Times New Roman" panose="02020603050405020304" charset="0"/>
                <a:cs typeface="Times New Roman" panose="02020603050405020304" charset="0"/>
                <a:sym typeface="+mn-ea"/>
              </a:rPr>
              <a:t>We checked how accurate each model is using different conditions.</a:t>
            </a:r>
            <a:endParaRPr lang="en-US" altLang="en-GB" sz="21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just">
              <a:buSzPct val="80000"/>
              <a:buFont typeface="Arial" panose="020B0604020202020204" pitchFamily="34" charset="0"/>
              <a:buChar char="•"/>
            </a:pPr>
            <a:r>
              <a:rPr lang="en-US" altLang="en-GB" sz="2100">
                <a:latin typeface="Times New Roman" panose="02020603050405020304" charset="0"/>
                <a:cs typeface="Times New Roman" panose="02020603050405020304" charset="0"/>
                <a:sym typeface="+mn-ea"/>
              </a:rPr>
              <a:t>We used real patient data for testing.</a:t>
            </a:r>
            <a:endParaRPr lang="en-US" altLang="en-GB" sz="21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just">
              <a:buSzPct val="80000"/>
              <a:buFont typeface="Arial" panose="020B0604020202020204" pitchFamily="34" charset="0"/>
              <a:buChar char="•"/>
            </a:pPr>
            <a:r>
              <a:rPr lang="en-US" altLang="en-GB" sz="21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This system can help doctors find diabetes earlier and treat patients on time.</a:t>
            </a:r>
            <a:endParaRPr lang="en-US" altLang="en-GB" sz="21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just">
              <a:buSzPct val="80000"/>
              <a:buFont typeface="Arial" panose="020B0604020202020204" pitchFamily="34" charset="0"/>
              <a:buChar char="•"/>
            </a:pPr>
            <a:r>
              <a:rPr lang="en-US" altLang="en-GB" sz="2100">
                <a:latin typeface="Times New Roman" panose="02020603050405020304" charset="0"/>
                <a:cs typeface="Times New Roman" panose="02020603050405020304" charset="0"/>
                <a:sym typeface="+mn-ea"/>
              </a:rPr>
              <a:t>Goal: identify the most accurate model and ideal classification threshold.</a:t>
            </a:r>
            <a:endParaRPr lang="en-US" altLang="en-GB" sz="21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95045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10058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6858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4828032"/>
            <a:ext cx="9144000" cy="310896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Shape 6"/>
          <p:cNvSpPr/>
          <p:nvPr>
            <p:custDataLst>
              <p:tags r:id="rId1"/>
            </p:custDataLst>
          </p:nvPr>
        </p:nvSpPr>
        <p:spPr>
          <a:xfrm>
            <a:off x="320040" y="1170432"/>
            <a:ext cx="4160520" cy="1024128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>
            <p:custDataLst>
              <p:tags r:id="rId2"/>
            </p:custDataLst>
          </p:nvPr>
        </p:nvSpPr>
        <p:spPr>
          <a:xfrm>
            <a:off x="320040" y="1170432"/>
            <a:ext cx="54864" cy="102412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57200" y="1463040"/>
            <a:ext cx="347472" cy="347472"/>
          </a:xfrm>
          <a:prstGeom prst="rect">
            <a:avLst/>
          </a:prstGeom>
        </p:spPr>
      </p:pic>
      <p:sp>
        <p:nvSpPr>
          <p:cNvPr id="11" name="Text 8"/>
          <p:cNvSpPr/>
          <p:nvPr>
            <p:custDataLst>
              <p:tags r:id="rId5"/>
            </p:custDataLst>
          </p:nvPr>
        </p:nvSpPr>
        <p:spPr>
          <a:xfrm>
            <a:off x="886968" y="1280160"/>
            <a:ext cx="3493008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altLang="en-GB" sz="1150" b="1">
              <a:solidFill>
                <a:schemeClr val="bg1"/>
              </a:solidFill>
              <a:latin typeface="Times New Roman" panose="02020603050405020304" charset="0"/>
              <a:ea typeface="Cambria" panose="02040503050406030204"/>
              <a:cs typeface="Times New Roman" panose="02020603050405020304" charset="0"/>
              <a:sym typeface="Cambria" panose="02040503050406030204"/>
            </a:endParaRPr>
          </a:p>
          <a:p>
            <a:pPr marL="0" indent="0">
              <a:buNone/>
            </a:pPr>
            <a:r>
              <a:rPr lang="en-US" altLang="en-GB" sz="1150" b="1">
                <a:solidFill>
                  <a:schemeClr val="bg1"/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  <a:sym typeface="Cambria" panose="02040503050406030204"/>
              </a:rPr>
              <a:t>Many people find out they have diabetes only when it becomes serious.</a:t>
            </a:r>
            <a:endParaRPr lang="en-US" altLang="en-GB" sz="1150" b="1">
              <a:solidFill>
                <a:schemeClr val="bg1"/>
              </a:solidFill>
              <a:latin typeface="Times New Roman" panose="02020603050405020304" charset="0"/>
              <a:ea typeface="Cambria" panose="02040503050406030204"/>
              <a:cs typeface="Times New Roman" panose="02020603050405020304" charset="0"/>
              <a:sym typeface="Cambria" panose="02040503050406030204"/>
            </a:endParaRPr>
          </a:p>
          <a:p>
            <a:pPr marL="0" indent="0">
              <a:buNone/>
            </a:pPr>
            <a:endParaRPr lang="en-US" altLang="en-GB" sz="1150" b="1" dirty="0">
              <a:solidFill>
                <a:schemeClr val="bg1"/>
              </a:solidFill>
              <a:latin typeface="Times New Roman" panose="02020603050405020304" charset="0"/>
              <a:ea typeface="Cambria" panose="02040503050406030204"/>
              <a:cs typeface="Times New Roman" panose="02020603050405020304" charset="0"/>
              <a:sym typeface="Cambria" panose="02040503050406030204"/>
            </a:endParaRPr>
          </a:p>
        </p:txBody>
      </p:sp>
      <p:sp>
        <p:nvSpPr>
          <p:cNvPr id="12" name="Shape 9"/>
          <p:cNvSpPr/>
          <p:nvPr>
            <p:custDataLst>
              <p:tags r:id="rId6"/>
            </p:custDataLst>
          </p:nvPr>
        </p:nvSpPr>
        <p:spPr>
          <a:xfrm>
            <a:off x="320040" y="2340864"/>
            <a:ext cx="4160520" cy="1024128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>
            <p:custDataLst>
              <p:tags r:id="rId7"/>
            </p:custDataLst>
          </p:nvPr>
        </p:nvSpPr>
        <p:spPr>
          <a:xfrm>
            <a:off x="320040" y="2340864"/>
            <a:ext cx="54864" cy="102412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57200" y="2633472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>
            <p:custDataLst>
              <p:tags r:id="rId9"/>
            </p:custDataLst>
          </p:nvPr>
        </p:nvSpPr>
        <p:spPr>
          <a:xfrm>
            <a:off x="886968" y="2450592"/>
            <a:ext cx="3493008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altLang="en-GB" sz="1150" b="1">
              <a:solidFill>
                <a:schemeClr val="bg1"/>
              </a:solidFill>
              <a:latin typeface="Times New Roman" panose="02020603050405020304" charset="0"/>
              <a:ea typeface="Cambria" panose="02040503050406030204"/>
              <a:cs typeface="Times New Roman" panose="02020603050405020304" charset="0"/>
              <a:sym typeface="Cambria" panose="02040503050406030204"/>
            </a:endParaRPr>
          </a:p>
          <a:p>
            <a:pPr marL="0" indent="0">
              <a:buNone/>
            </a:pPr>
            <a:r>
              <a:rPr lang="en-US" altLang="en-GB" sz="1150" b="1">
                <a:solidFill>
                  <a:schemeClr val="bg1"/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  <a:sym typeface="Cambria" panose="02040503050406030204"/>
              </a:rPr>
              <a:t>Early testing is difficult because it needs hospital visits and blood tests.</a:t>
            </a:r>
            <a:endParaRPr lang="en-US" altLang="en-GB" sz="1150" b="1">
              <a:solidFill>
                <a:schemeClr val="bg1"/>
              </a:solidFill>
              <a:latin typeface="Times New Roman" panose="02020603050405020304" charset="0"/>
              <a:ea typeface="Cambria" panose="02040503050406030204"/>
              <a:cs typeface="Times New Roman" panose="02020603050405020304" charset="0"/>
              <a:sym typeface="Cambria" panose="02040503050406030204"/>
            </a:endParaRPr>
          </a:p>
          <a:p>
            <a:pPr marL="0" indent="0">
              <a:buNone/>
            </a:pPr>
            <a:endParaRPr lang="en-US" altLang="en-GB" sz="1150" b="1" dirty="0">
              <a:solidFill>
                <a:schemeClr val="bg1"/>
              </a:solidFill>
              <a:latin typeface="Times New Roman" panose="02020603050405020304" charset="0"/>
              <a:ea typeface="Cambria" panose="02040503050406030204"/>
              <a:cs typeface="Times New Roman" panose="02020603050405020304" charset="0"/>
              <a:sym typeface="Cambria" panose="02040503050406030204"/>
            </a:endParaRPr>
          </a:p>
        </p:txBody>
      </p:sp>
      <p:sp>
        <p:nvSpPr>
          <p:cNvPr id="16" name="Shape 12"/>
          <p:cNvSpPr/>
          <p:nvPr>
            <p:custDataLst>
              <p:tags r:id="rId10"/>
            </p:custDataLst>
          </p:nvPr>
        </p:nvSpPr>
        <p:spPr>
          <a:xfrm>
            <a:off x="320040" y="3511296"/>
            <a:ext cx="4160520" cy="1024128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>
            <p:custDataLst>
              <p:tags r:id="rId11"/>
            </p:custDataLst>
          </p:nvPr>
        </p:nvSpPr>
        <p:spPr>
          <a:xfrm>
            <a:off x="320040" y="3511296"/>
            <a:ext cx="54864" cy="102412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57200" y="3803904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>
            <p:custDataLst>
              <p:tags r:id="rId13"/>
            </p:custDataLst>
          </p:nvPr>
        </p:nvSpPr>
        <p:spPr>
          <a:xfrm>
            <a:off x="886968" y="3621024"/>
            <a:ext cx="3493008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altLang="en-GB" sz="1150" b="1">
              <a:solidFill>
                <a:schemeClr val="bg1"/>
              </a:solidFill>
              <a:latin typeface="Times New Roman" panose="02020603050405020304" charset="0"/>
              <a:ea typeface="Cambria" panose="02040503050406030204"/>
              <a:cs typeface="Times New Roman" panose="02020603050405020304" charset="0"/>
              <a:sym typeface="Cambria" panose="02040503050406030204"/>
            </a:endParaRPr>
          </a:p>
          <a:p>
            <a:pPr marL="0" indent="0">
              <a:buNone/>
            </a:pPr>
            <a:r>
              <a:rPr lang="en-US" altLang="en-GB" sz="1150" b="1">
                <a:solidFill>
                  <a:schemeClr val="bg1"/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  <a:sym typeface="Cambria" panose="02040503050406030204"/>
              </a:rPr>
              <a:t>Machine learning can help predict diabetes using basic health information.</a:t>
            </a:r>
            <a:endParaRPr lang="en-US" altLang="en-GB" sz="1150" b="1">
              <a:solidFill>
                <a:schemeClr val="bg1"/>
              </a:solidFill>
              <a:latin typeface="Times New Roman" panose="02020603050405020304" charset="0"/>
              <a:ea typeface="Cambria" panose="02040503050406030204"/>
              <a:cs typeface="Times New Roman" panose="02020603050405020304" charset="0"/>
              <a:sym typeface="Cambria" panose="02040503050406030204"/>
            </a:endParaRPr>
          </a:p>
          <a:p>
            <a:pPr marL="0" indent="0">
              <a:buNone/>
            </a:pPr>
            <a:endParaRPr lang="en-US" altLang="en-GB" sz="1150" b="1" dirty="0">
              <a:solidFill>
                <a:schemeClr val="bg1"/>
              </a:solidFill>
              <a:latin typeface="Times New Roman" panose="02020603050405020304" charset="0"/>
              <a:ea typeface="Cambria" panose="02040503050406030204"/>
              <a:cs typeface="Times New Roman" panose="02020603050405020304" charset="0"/>
              <a:sym typeface="Cambria" panose="02040503050406030204"/>
            </a:endParaRPr>
          </a:p>
        </p:txBody>
      </p:sp>
      <p:sp>
        <p:nvSpPr>
          <p:cNvPr id="20" name="Shape 15"/>
          <p:cNvSpPr/>
          <p:nvPr>
            <p:custDataLst>
              <p:tags r:id="rId14"/>
            </p:custDataLst>
          </p:nvPr>
        </p:nvSpPr>
        <p:spPr>
          <a:xfrm>
            <a:off x="4754880" y="1170432"/>
            <a:ext cx="4160520" cy="1024128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>
            <p:custDataLst>
              <p:tags r:id="rId15"/>
            </p:custDataLst>
          </p:nvPr>
        </p:nvSpPr>
        <p:spPr>
          <a:xfrm>
            <a:off x="4754880" y="1170432"/>
            <a:ext cx="54864" cy="102412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892040" y="1463040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>
            <p:custDataLst>
              <p:tags r:id="rId17"/>
            </p:custDataLst>
          </p:nvPr>
        </p:nvSpPr>
        <p:spPr>
          <a:xfrm>
            <a:off x="5321808" y="1280160"/>
            <a:ext cx="3493008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altLang="en-GB" sz="1150" b="1">
              <a:solidFill>
                <a:schemeClr val="bg1"/>
              </a:solidFill>
              <a:latin typeface="Times New Roman" panose="02020603050405020304" charset="0"/>
              <a:ea typeface="Cambria" panose="02040503050406030204"/>
              <a:cs typeface="Times New Roman" panose="02020603050405020304" charset="0"/>
              <a:sym typeface="Cambria" panose="02040503050406030204"/>
            </a:endParaRPr>
          </a:p>
          <a:p>
            <a:pPr marL="0" indent="0">
              <a:buNone/>
            </a:pPr>
            <a:r>
              <a:rPr lang="en-US" altLang="en-GB" sz="1150" b="1">
                <a:solidFill>
                  <a:schemeClr val="bg1"/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  <a:sym typeface="Cambria" panose="02040503050406030204"/>
              </a:rPr>
              <a:t>But we don’t know which machine learning method gives the best and most correct results.</a:t>
            </a:r>
            <a:endParaRPr lang="en-US" altLang="en-GB" sz="1150" b="1">
              <a:solidFill>
                <a:schemeClr val="bg1"/>
              </a:solidFill>
              <a:latin typeface="Times New Roman" panose="02020603050405020304" charset="0"/>
              <a:ea typeface="Cambria" panose="02040503050406030204"/>
              <a:cs typeface="Times New Roman" panose="02020603050405020304" charset="0"/>
              <a:sym typeface="Cambria" panose="02040503050406030204"/>
            </a:endParaRPr>
          </a:p>
          <a:p>
            <a:pPr marL="0" indent="0">
              <a:buNone/>
            </a:pPr>
            <a:endParaRPr lang="en-US" altLang="en-GB" sz="1150" b="1" dirty="0">
              <a:solidFill>
                <a:schemeClr val="bg1"/>
              </a:solidFill>
              <a:latin typeface="Times New Roman" panose="02020603050405020304" charset="0"/>
              <a:ea typeface="Cambria" panose="02040503050406030204"/>
              <a:cs typeface="Times New Roman" panose="02020603050405020304" charset="0"/>
              <a:sym typeface="Cambria" panose="02040503050406030204"/>
            </a:endParaRPr>
          </a:p>
        </p:txBody>
      </p:sp>
      <p:sp>
        <p:nvSpPr>
          <p:cNvPr id="24" name="Shape 18"/>
          <p:cNvSpPr/>
          <p:nvPr>
            <p:custDataLst>
              <p:tags r:id="rId18"/>
            </p:custDataLst>
          </p:nvPr>
        </p:nvSpPr>
        <p:spPr>
          <a:xfrm>
            <a:off x="4754880" y="2340864"/>
            <a:ext cx="4160520" cy="1024128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19"/>
          <p:cNvSpPr/>
          <p:nvPr>
            <p:custDataLst>
              <p:tags r:id="rId19"/>
            </p:custDataLst>
          </p:nvPr>
        </p:nvSpPr>
        <p:spPr>
          <a:xfrm>
            <a:off x="4754880" y="2340864"/>
            <a:ext cx="54864" cy="102412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892040" y="2633472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>
            <p:custDataLst>
              <p:tags r:id="rId21"/>
            </p:custDataLst>
          </p:nvPr>
        </p:nvSpPr>
        <p:spPr>
          <a:xfrm>
            <a:off x="5321808" y="2450592"/>
            <a:ext cx="3493008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5080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0000"/>
              <a:buFont typeface="Arial" panose="020B0604020202020204" pitchFamily="34" charset="0"/>
              <a:buNone/>
            </a:pPr>
            <a:r>
              <a:rPr lang="en-US" altLang="en-GB" sz="1150" b="1">
                <a:solidFill>
                  <a:schemeClr val="bg1"/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  <a:sym typeface="Cambria" panose="02040503050406030204"/>
              </a:rPr>
              <a:t>Different models give different accuracy, and we need to check which one works the best.</a:t>
            </a:r>
            <a:endParaRPr lang="en-US" altLang="en-GB" sz="1150" b="1" dirty="0">
              <a:solidFill>
                <a:schemeClr val="bg1"/>
              </a:solidFill>
              <a:latin typeface="Times New Roman" panose="02020603050405020304" charset="0"/>
              <a:ea typeface="Cambria" panose="02040503050406030204"/>
              <a:cs typeface="Times New Roman" panose="02020603050405020304" charset="0"/>
              <a:sym typeface="Cambria" panose="02040503050406030204"/>
            </a:endParaRPr>
          </a:p>
        </p:txBody>
      </p:sp>
      <p:sp>
        <p:nvSpPr>
          <p:cNvPr id="28" name="Shape 21"/>
          <p:cNvSpPr/>
          <p:nvPr>
            <p:custDataLst>
              <p:tags r:id="rId22"/>
            </p:custDataLst>
          </p:nvPr>
        </p:nvSpPr>
        <p:spPr>
          <a:xfrm>
            <a:off x="4754880" y="3511296"/>
            <a:ext cx="4160520" cy="1024128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Shape 22"/>
          <p:cNvSpPr/>
          <p:nvPr>
            <p:custDataLst>
              <p:tags r:id="rId23"/>
            </p:custDataLst>
          </p:nvPr>
        </p:nvSpPr>
        <p:spPr>
          <a:xfrm>
            <a:off x="4754880" y="3511296"/>
            <a:ext cx="54864" cy="102412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30" name="Image 5" descr="preencoded.png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892040" y="3803904"/>
            <a:ext cx="347472" cy="347472"/>
          </a:xfrm>
          <a:prstGeom prst="rect">
            <a:avLst/>
          </a:prstGeom>
        </p:spPr>
      </p:pic>
      <p:sp>
        <p:nvSpPr>
          <p:cNvPr id="31" name="Text 23"/>
          <p:cNvSpPr/>
          <p:nvPr>
            <p:custDataLst>
              <p:tags r:id="rId25"/>
            </p:custDataLst>
          </p:nvPr>
        </p:nvSpPr>
        <p:spPr>
          <a:xfrm>
            <a:off x="5321808" y="3621024"/>
            <a:ext cx="3493008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5080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0000"/>
              <a:buFont typeface="Arial" panose="020B0604020202020204" pitchFamily="34" charset="0"/>
              <a:buNone/>
            </a:pPr>
            <a:r>
              <a:rPr lang="en-US" altLang="en-GB" sz="1150" b="1">
                <a:solidFill>
                  <a:schemeClr val="bg1"/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  <a:sym typeface="Cambria" panose="02040503050406030204"/>
              </a:rPr>
              <a:t>So the main problem is to test many machine learning models and find which one can accurately detect diabetes early.</a:t>
            </a:r>
            <a:endParaRPr lang="en-US" altLang="en-GB" sz="1150" b="1" dirty="0">
              <a:solidFill>
                <a:schemeClr val="bg1"/>
              </a:solidFill>
              <a:latin typeface="Times New Roman" panose="02020603050405020304" charset="0"/>
              <a:ea typeface="Cambria" panose="02040503050406030204"/>
              <a:cs typeface="Times New Roman" panose="02020603050405020304" charset="0"/>
              <a:sym typeface="Cambria" panose="02040503050406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10058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6858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6858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this research aims to accomplish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28032"/>
            <a:ext cx="9144000" cy="310896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Shape 6"/>
          <p:cNvSpPr/>
          <p:nvPr>
            <p:custDataLst>
              <p:tags r:id="rId1"/>
            </p:custDataLst>
          </p:nvPr>
        </p:nvSpPr>
        <p:spPr>
          <a:xfrm>
            <a:off x="274320" y="1143000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F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>
            <p:custDataLst>
              <p:tags r:id="rId2"/>
            </p:custDataLst>
          </p:nvPr>
        </p:nvSpPr>
        <p:spPr>
          <a:xfrm>
            <a:off x="274320" y="1143000"/>
            <a:ext cx="54864" cy="8686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Shape 8"/>
          <p:cNvSpPr/>
          <p:nvPr>
            <p:custDataLst>
              <p:tags r:id="rId3"/>
            </p:custDataLst>
          </p:nvPr>
        </p:nvSpPr>
        <p:spPr>
          <a:xfrm>
            <a:off x="365760" y="1344168"/>
            <a:ext cx="457200" cy="4572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>
            <p:custDataLst>
              <p:tags r:id="rId4"/>
            </p:custDataLst>
          </p:nvPr>
        </p:nvSpPr>
        <p:spPr>
          <a:xfrm>
            <a:off x="365760" y="134416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>
            <p:custDataLst>
              <p:tags r:id="rId5"/>
            </p:custDataLst>
          </p:nvPr>
        </p:nvSpPr>
        <p:spPr>
          <a:xfrm>
            <a:off x="914400" y="1197864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 Best Model</a:t>
            </a:r>
            <a:endParaRPr lang="en-US" sz="1200" dirty="0"/>
          </a:p>
        </p:txBody>
      </p:sp>
      <p:sp>
        <p:nvSpPr>
          <p:cNvPr id="13" name="Text 11"/>
          <p:cNvSpPr/>
          <p:nvPr>
            <p:custDataLst>
              <p:tags r:id="rId6"/>
            </p:custDataLst>
          </p:nvPr>
        </p:nvSpPr>
        <p:spPr>
          <a:xfrm>
            <a:off x="914400" y="1433957"/>
            <a:ext cx="3429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Identify which ML model predicts diabetes most accurately across all test conditions</a:t>
            </a:r>
            <a:endParaRPr lang="en-US" sz="1000" b="1" dirty="0">
              <a:solidFill>
                <a:schemeClr val="bg2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4" name="Shape 12"/>
          <p:cNvSpPr/>
          <p:nvPr>
            <p:custDataLst>
              <p:tags r:id="rId7"/>
            </p:custDataLst>
          </p:nvPr>
        </p:nvSpPr>
        <p:spPr>
          <a:xfrm>
            <a:off x="4709160" y="1143000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F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>
            <p:custDataLst>
              <p:tags r:id="rId8"/>
            </p:custDataLst>
          </p:nvPr>
        </p:nvSpPr>
        <p:spPr>
          <a:xfrm>
            <a:off x="4709160" y="1143000"/>
            <a:ext cx="54864" cy="8686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Shape 14"/>
          <p:cNvSpPr/>
          <p:nvPr>
            <p:custDataLst>
              <p:tags r:id="rId9"/>
            </p:custDataLst>
          </p:nvPr>
        </p:nvSpPr>
        <p:spPr>
          <a:xfrm>
            <a:off x="4800600" y="1344168"/>
            <a:ext cx="457200" cy="45720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7" name="Text 15"/>
          <p:cNvSpPr/>
          <p:nvPr>
            <p:custDataLst>
              <p:tags r:id="rId10"/>
            </p:custDataLst>
          </p:nvPr>
        </p:nvSpPr>
        <p:spPr>
          <a:xfrm>
            <a:off x="4800600" y="134416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>
            <p:custDataLst>
              <p:tags r:id="rId11"/>
            </p:custDataLst>
          </p:nvPr>
        </p:nvSpPr>
        <p:spPr>
          <a:xfrm>
            <a:off x="5349240" y="1197864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Compare Models</a:t>
            </a:r>
            <a:endParaRPr lang="en-US" sz="1200" dirty="0"/>
          </a:p>
        </p:txBody>
      </p:sp>
      <p:sp>
        <p:nvSpPr>
          <p:cNvPr id="19" name="Text 17"/>
          <p:cNvSpPr/>
          <p:nvPr>
            <p:custDataLst>
              <p:tags r:id="rId12"/>
            </p:custDataLst>
          </p:nvPr>
        </p:nvSpPr>
        <p:spPr>
          <a:xfrm>
            <a:off x="5349240" y="1472057"/>
            <a:ext cx="3429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en-GB" sz="1000" b="1">
                <a:solidFill>
                  <a:schemeClr val="bg2">
                    <a:lumMod val="50000"/>
                  </a:schemeClr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  <a:sym typeface="Cambria" panose="02040503050406030204"/>
              </a:rPr>
              <a:t>To test many different models and compare their accuracy.</a:t>
            </a:r>
            <a:endParaRPr lang="en-US" altLang="en-GB" sz="1000" b="1">
              <a:solidFill>
                <a:schemeClr val="bg2">
                  <a:lumMod val="50000"/>
                </a:schemeClr>
              </a:solidFill>
              <a:latin typeface="Times New Roman" panose="02020603050405020304" charset="0"/>
              <a:ea typeface="Cambria" panose="02040503050406030204"/>
              <a:cs typeface="Times New Roman" panose="02020603050405020304" charset="0"/>
              <a:sym typeface="Cambria" panose="02040503050406030204"/>
            </a:endParaRPr>
          </a:p>
          <a:p>
            <a:pPr marL="0" indent="0">
              <a:buNone/>
            </a:pPr>
            <a:endParaRPr lang="en-US" altLang="en-GB" sz="1000" b="1" dirty="0">
              <a:solidFill>
                <a:schemeClr val="bg2">
                  <a:lumMod val="50000"/>
                </a:schemeClr>
              </a:solidFill>
              <a:latin typeface="Times New Roman" panose="02020603050405020304" charset="0"/>
              <a:ea typeface="Cambria" panose="02040503050406030204"/>
              <a:cs typeface="Times New Roman" panose="02020603050405020304" charset="0"/>
              <a:sym typeface="Cambria" panose="02040503050406030204"/>
            </a:endParaRPr>
          </a:p>
        </p:txBody>
      </p:sp>
      <p:sp>
        <p:nvSpPr>
          <p:cNvPr id="20" name="Shape 18"/>
          <p:cNvSpPr/>
          <p:nvPr>
            <p:custDataLst>
              <p:tags r:id="rId13"/>
            </p:custDataLst>
          </p:nvPr>
        </p:nvSpPr>
        <p:spPr>
          <a:xfrm>
            <a:off x="274320" y="2103120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F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>
            <p:custDataLst>
              <p:tags r:id="rId14"/>
            </p:custDataLst>
          </p:nvPr>
        </p:nvSpPr>
        <p:spPr>
          <a:xfrm>
            <a:off x="274320" y="2103120"/>
            <a:ext cx="54864" cy="86868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2" name="Shape 20"/>
          <p:cNvSpPr/>
          <p:nvPr>
            <p:custDataLst>
              <p:tags r:id="rId15"/>
            </p:custDataLst>
          </p:nvPr>
        </p:nvSpPr>
        <p:spPr>
          <a:xfrm>
            <a:off x="365760" y="2304288"/>
            <a:ext cx="457200" cy="457200"/>
          </a:xfrm>
          <a:prstGeom prst="ellipse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3" name="Text 21"/>
          <p:cNvSpPr/>
          <p:nvPr>
            <p:custDataLst>
              <p:tags r:id="rId16"/>
            </p:custDataLst>
          </p:nvPr>
        </p:nvSpPr>
        <p:spPr>
          <a:xfrm>
            <a:off x="365760" y="230428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>
            <p:custDataLst>
              <p:tags r:id="rId17"/>
            </p:custDataLst>
          </p:nvPr>
        </p:nvSpPr>
        <p:spPr>
          <a:xfrm>
            <a:off x="914400" y="2157984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Preparation</a:t>
            </a:r>
            <a:endParaRPr lang="en-US" sz="1200" dirty="0"/>
          </a:p>
        </p:txBody>
      </p:sp>
      <p:sp>
        <p:nvSpPr>
          <p:cNvPr id="25" name="Text 23"/>
          <p:cNvSpPr/>
          <p:nvPr>
            <p:custDataLst>
              <p:tags r:id="rId18"/>
            </p:custDataLst>
          </p:nvPr>
        </p:nvSpPr>
        <p:spPr>
          <a:xfrm>
            <a:off x="914400" y="2450592"/>
            <a:ext cx="3429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en-GB" sz="1000" b="1">
                <a:solidFill>
                  <a:schemeClr val="bg2">
                    <a:lumMod val="50000"/>
                  </a:schemeClr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  <a:sym typeface="Cambria" panose="02040503050406030204"/>
              </a:rPr>
              <a:t>To clean and prepare the health data so the predictions become better.</a:t>
            </a:r>
            <a:endParaRPr lang="en-US" altLang="en-GB" sz="1000" b="1">
              <a:solidFill>
                <a:schemeClr val="bg2">
                  <a:lumMod val="50000"/>
                </a:schemeClr>
              </a:solidFill>
              <a:latin typeface="Times New Roman" panose="02020603050405020304" charset="0"/>
              <a:ea typeface="Cambria" panose="02040503050406030204"/>
              <a:cs typeface="Times New Roman" panose="02020603050405020304" charset="0"/>
              <a:sym typeface="Cambria" panose="02040503050406030204"/>
            </a:endParaRPr>
          </a:p>
          <a:p>
            <a:pPr marL="0" indent="0">
              <a:buNone/>
            </a:pPr>
            <a:endParaRPr lang="en-US" altLang="en-GB" sz="1000" b="1" dirty="0">
              <a:solidFill>
                <a:schemeClr val="bg2">
                  <a:lumMod val="50000"/>
                </a:schemeClr>
              </a:solidFill>
              <a:latin typeface="Times New Roman" panose="02020603050405020304" charset="0"/>
              <a:ea typeface="Cambria" panose="02040503050406030204"/>
              <a:cs typeface="Times New Roman" panose="02020603050405020304" charset="0"/>
              <a:sym typeface="Cambria" panose="02040503050406030204"/>
            </a:endParaRPr>
          </a:p>
        </p:txBody>
      </p:sp>
      <p:sp>
        <p:nvSpPr>
          <p:cNvPr id="26" name="Shape 24"/>
          <p:cNvSpPr/>
          <p:nvPr>
            <p:custDataLst>
              <p:tags r:id="rId19"/>
            </p:custDataLst>
          </p:nvPr>
        </p:nvSpPr>
        <p:spPr>
          <a:xfrm>
            <a:off x="4709160" y="2103120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F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>
            <p:custDataLst>
              <p:tags r:id="rId20"/>
            </p:custDataLst>
          </p:nvPr>
        </p:nvSpPr>
        <p:spPr>
          <a:xfrm>
            <a:off x="4709160" y="2103120"/>
            <a:ext cx="54864" cy="8686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8" name="Shape 26"/>
          <p:cNvSpPr/>
          <p:nvPr>
            <p:custDataLst>
              <p:tags r:id="rId21"/>
            </p:custDataLst>
          </p:nvPr>
        </p:nvSpPr>
        <p:spPr>
          <a:xfrm>
            <a:off x="4800600" y="2304288"/>
            <a:ext cx="457200" cy="45720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9" name="Text 27"/>
          <p:cNvSpPr/>
          <p:nvPr>
            <p:custDataLst>
              <p:tags r:id="rId22"/>
            </p:custDataLst>
          </p:nvPr>
        </p:nvSpPr>
        <p:spPr>
          <a:xfrm>
            <a:off x="4800600" y="230428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8"/>
          <p:cNvSpPr/>
          <p:nvPr>
            <p:custDataLst>
              <p:tags r:id="rId23"/>
            </p:custDataLst>
          </p:nvPr>
        </p:nvSpPr>
        <p:spPr>
          <a:xfrm>
            <a:off x="5349240" y="2157984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Kernel PCA Analysis</a:t>
            </a:r>
            <a:endParaRPr lang="en-US" sz="1200" dirty="0"/>
          </a:p>
        </p:txBody>
      </p:sp>
      <p:sp>
        <p:nvSpPr>
          <p:cNvPr id="31" name="Text 29"/>
          <p:cNvSpPr/>
          <p:nvPr>
            <p:custDataLst>
              <p:tags r:id="rId24"/>
            </p:custDataLst>
          </p:nvPr>
        </p:nvSpPr>
        <p:spPr>
          <a:xfrm>
            <a:off x="5349240" y="2381377"/>
            <a:ext cx="3429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Apply Kernel PCA </a:t>
            </a:r>
            <a:r>
              <a:rPr lang="en-US" altLang="en-GB" sz="1000" b="1">
                <a:solidFill>
                  <a:schemeClr val="bg2">
                    <a:lumMod val="50000"/>
                  </a:schemeClr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  <a:sym typeface="Cambria" panose="02040503050406030204"/>
              </a:rPr>
              <a:t>to reduce extra features and check if it improves results.</a:t>
            </a:r>
            <a:endParaRPr lang="en-US" altLang="en-GB" sz="1000" b="1" dirty="0">
              <a:solidFill>
                <a:schemeClr val="bg2">
                  <a:lumMod val="50000"/>
                </a:schemeClr>
              </a:solidFill>
              <a:latin typeface="Times New Roman" panose="02020603050405020304" charset="0"/>
              <a:ea typeface="Cambria" panose="02040503050406030204"/>
              <a:cs typeface="Times New Roman" panose="02020603050405020304" charset="0"/>
              <a:sym typeface="Cambria" panose="02040503050406030204"/>
            </a:endParaRPr>
          </a:p>
        </p:txBody>
      </p:sp>
      <p:sp>
        <p:nvSpPr>
          <p:cNvPr id="32" name="Shape 30"/>
          <p:cNvSpPr/>
          <p:nvPr>
            <p:custDataLst>
              <p:tags r:id="rId25"/>
            </p:custDataLst>
          </p:nvPr>
        </p:nvSpPr>
        <p:spPr>
          <a:xfrm>
            <a:off x="274320" y="3063240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F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>
            <p:custDataLst>
              <p:tags r:id="rId26"/>
            </p:custDataLst>
          </p:nvPr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34" name="Shape 32"/>
          <p:cNvSpPr/>
          <p:nvPr>
            <p:custDataLst>
              <p:tags r:id="rId27"/>
            </p:custDataLst>
          </p:nvPr>
        </p:nvSpPr>
        <p:spPr>
          <a:xfrm>
            <a:off x="365760" y="3264408"/>
            <a:ext cx="457200" cy="457200"/>
          </a:xfrm>
          <a:prstGeom prst="ellipse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35" name="Text 33"/>
          <p:cNvSpPr/>
          <p:nvPr>
            <p:custDataLst>
              <p:tags r:id="rId28"/>
            </p:custDataLst>
          </p:nvPr>
        </p:nvSpPr>
        <p:spPr>
          <a:xfrm>
            <a:off x="365760" y="326440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34"/>
          <p:cNvSpPr/>
          <p:nvPr>
            <p:custDataLst>
              <p:tags r:id="rId29"/>
            </p:custDataLst>
          </p:nvPr>
        </p:nvSpPr>
        <p:spPr>
          <a:xfrm>
            <a:off x="914400" y="3118104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altLang="en-US" sz="1200" b="1">
                <a:latin typeface="Times New Roman" panose="02020603050405020304" charset="0"/>
                <a:ea typeface="Cambria" panose="02040503050406030204"/>
                <a:cs typeface="Times New Roman" panose="02020603050405020304" charset="0"/>
                <a:sym typeface="Cambria" panose="02040503050406030204"/>
              </a:rPr>
              <a:t>T</a:t>
            </a:r>
            <a:r>
              <a:rPr lang="en-US" altLang="en-GB" sz="1200" b="1">
                <a:latin typeface="Times New Roman" panose="02020603050405020304" charset="0"/>
                <a:ea typeface="Cambria" panose="02040503050406030204"/>
                <a:cs typeface="Times New Roman" panose="02020603050405020304" charset="0"/>
                <a:sym typeface="Cambria" panose="02040503050406030204"/>
              </a:rPr>
              <a:t>raining and </a:t>
            </a:r>
            <a:r>
              <a:rPr lang="en-GB" altLang="en-US" sz="1200" b="1">
                <a:latin typeface="Times New Roman" panose="02020603050405020304" charset="0"/>
                <a:ea typeface="Cambria" panose="02040503050406030204"/>
                <a:cs typeface="Times New Roman" panose="02020603050405020304" charset="0"/>
                <a:sym typeface="Cambria" panose="02040503050406030204"/>
              </a:rPr>
              <a:t>T</a:t>
            </a:r>
            <a:r>
              <a:rPr lang="en-US" altLang="en-GB" sz="1200" b="1">
                <a:latin typeface="Times New Roman" panose="02020603050405020304" charset="0"/>
                <a:ea typeface="Cambria" panose="02040503050406030204"/>
                <a:cs typeface="Times New Roman" panose="02020603050405020304" charset="0"/>
                <a:sym typeface="Cambria" panose="02040503050406030204"/>
              </a:rPr>
              <a:t>esting </a:t>
            </a:r>
            <a:r>
              <a:rPr lang="en-GB" altLang="en-US" sz="1200" b="1">
                <a:latin typeface="Times New Roman" panose="02020603050405020304" charset="0"/>
                <a:ea typeface="Cambria" panose="02040503050406030204"/>
                <a:cs typeface="Times New Roman" panose="02020603050405020304" charset="0"/>
                <a:sym typeface="Cambria" panose="02040503050406030204"/>
              </a:rPr>
              <a:t>S</a:t>
            </a:r>
            <a:r>
              <a:rPr lang="en-US" altLang="en-GB" sz="1200" b="1">
                <a:latin typeface="Times New Roman" panose="02020603050405020304" charset="0"/>
                <a:ea typeface="Cambria" panose="02040503050406030204"/>
                <a:cs typeface="Times New Roman" panose="02020603050405020304" charset="0"/>
                <a:sym typeface="Cambria" panose="02040503050406030204"/>
              </a:rPr>
              <a:t>plits</a:t>
            </a:r>
            <a:endParaRPr lang="en-US" sz="1200" b="1" dirty="0"/>
          </a:p>
        </p:txBody>
      </p:sp>
      <p:sp>
        <p:nvSpPr>
          <p:cNvPr id="37" name="Text 35"/>
          <p:cNvSpPr/>
          <p:nvPr>
            <p:custDataLst>
              <p:tags r:id="rId30"/>
            </p:custDataLst>
          </p:nvPr>
        </p:nvSpPr>
        <p:spPr>
          <a:xfrm>
            <a:off x="914400" y="3323717"/>
            <a:ext cx="3429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Evaluate 80-20, 60-40, 40-60 train/test ratios for best performance</a:t>
            </a:r>
            <a:endParaRPr lang="en-US" sz="1000" b="1" dirty="0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8" name="Shape 36"/>
          <p:cNvSpPr/>
          <p:nvPr>
            <p:custDataLst>
              <p:tags r:id="rId31"/>
            </p:custDataLst>
          </p:nvPr>
        </p:nvSpPr>
        <p:spPr>
          <a:xfrm>
            <a:off x="4709160" y="3063240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F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>
            <p:custDataLst>
              <p:tags r:id="rId32"/>
            </p:custDataLst>
          </p:nvPr>
        </p:nvSpPr>
        <p:spPr>
          <a:xfrm>
            <a:off x="4709160" y="3063240"/>
            <a:ext cx="54864" cy="86868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40" name="Shape 38"/>
          <p:cNvSpPr/>
          <p:nvPr>
            <p:custDataLst>
              <p:tags r:id="rId33"/>
            </p:custDataLst>
          </p:nvPr>
        </p:nvSpPr>
        <p:spPr>
          <a:xfrm>
            <a:off x="4800600" y="3264408"/>
            <a:ext cx="457200" cy="457200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41" name="Text 39"/>
          <p:cNvSpPr/>
          <p:nvPr>
            <p:custDataLst>
              <p:tags r:id="rId34"/>
            </p:custDataLst>
          </p:nvPr>
        </p:nvSpPr>
        <p:spPr>
          <a:xfrm>
            <a:off x="4800600" y="326440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300" dirty="0"/>
          </a:p>
        </p:txBody>
      </p:sp>
      <p:sp>
        <p:nvSpPr>
          <p:cNvPr id="42" name="Text 40"/>
          <p:cNvSpPr/>
          <p:nvPr>
            <p:custDataLst>
              <p:tags r:id="rId35"/>
            </p:custDataLst>
          </p:nvPr>
        </p:nvSpPr>
        <p:spPr>
          <a:xfrm>
            <a:off x="5349240" y="3118104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Threshold Tuning</a:t>
            </a:r>
            <a:endParaRPr lang="en-US" sz="1200" dirty="0"/>
          </a:p>
        </p:txBody>
      </p:sp>
      <p:sp>
        <p:nvSpPr>
          <p:cNvPr id="43" name="Text 41"/>
          <p:cNvSpPr/>
          <p:nvPr>
            <p:custDataLst>
              <p:tags r:id="rId36"/>
            </p:custDataLst>
          </p:nvPr>
        </p:nvSpPr>
        <p:spPr>
          <a:xfrm>
            <a:off x="5349240" y="3323717"/>
            <a:ext cx="3429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altLang="en-US" sz="1000" b="1">
                <a:solidFill>
                  <a:schemeClr val="bg2">
                    <a:lumMod val="50000"/>
                  </a:schemeClr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  <a:sym typeface="Cambria" panose="02040503050406030204"/>
              </a:rPr>
              <a:t>C</a:t>
            </a:r>
            <a:r>
              <a:rPr lang="en-US" altLang="en-GB" sz="1000" b="1">
                <a:solidFill>
                  <a:schemeClr val="bg2">
                    <a:lumMod val="50000"/>
                  </a:schemeClr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  <a:sym typeface="Cambria" panose="02040503050406030204"/>
              </a:rPr>
              <a:t>hoose the best threshold that helps the model make correct predictions.</a:t>
            </a:r>
            <a:endParaRPr lang="en-US" altLang="en-GB" sz="1000" b="1" dirty="0">
              <a:solidFill>
                <a:schemeClr val="bg2">
                  <a:lumMod val="50000"/>
                </a:schemeClr>
              </a:solidFill>
              <a:latin typeface="Times New Roman" panose="02020603050405020304" charset="0"/>
              <a:ea typeface="Cambria" panose="02040503050406030204"/>
              <a:cs typeface="Times New Roman" panose="02020603050405020304" charset="0"/>
              <a:sym typeface="Cambria" panose="02040503050406030204"/>
            </a:endParaRPr>
          </a:p>
        </p:txBody>
      </p:sp>
      <p:sp>
        <p:nvSpPr>
          <p:cNvPr id="44" name="Shape 42"/>
          <p:cNvSpPr/>
          <p:nvPr>
            <p:custDataLst>
              <p:tags r:id="rId37"/>
            </p:custDataLst>
          </p:nvPr>
        </p:nvSpPr>
        <p:spPr>
          <a:xfrm>
            <a:off x="274320" y="4023360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F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5" name="Shape 43"/>
          <p:cNvSpPr/>
          <p:nvPr>
            <p:custDataLst>
              <p:tags r:id="rId38"/>
            </p:custDataLst>
          </p:nvPr>
        </p:nvSpPr>
        <p:spPr>
          <a:xfrm>
            <a:off x="274320" y="4023360"/>
            <a:ext cx="54864" cy="868680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46" name="Shape 44"/>
          <p:cNvSpPr/>
          <p:nvPr>
            <p:custDataLst>
              <p:tags r:id="rId39"/>
            </p:custDataLst>
          </p:nvPr>
        </p:nvSpPr>
        <p:spPr>
          <a:xfrm>
            <a:off x="365760" y="4224528"/>
            <a:ext cx="457200" cy="457200"/>
          </a:xfrm>
          <a:prstGeom prst="ellipse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47" name="Text 45"/>
          <p:cNvSpPr/>
          <p:nvPr>
            <p:custDataLst>
              <p:tags r:id="rId40"/>
            </p:custDataLst>
          </p:nvPr>
        </p:nvSpPr>
        <p:spPr>
          <a:xfrm>
            <a:off x="365760" y="42245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300" dirty="0"/>
          </a:p>
        </p:txBody>
      </p:sp>
      <p:sp>
        <p:nvSpPr>
          <p:cNvPr id="48" name="Text 46"/>
          <p:cNvSpPr/>
          <p:nvPr>
            <p:custDataLst>
              <p:tags r:id="rId41"/>
            </p:custDataLst>
          </p:nvPr>
        </p:nvSpPr>
        <p:spPr>
          <a:xfrm>
            <a:off x="914400" y="4078224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Early Detection System</a:t>
            </a:r>
            <a:endParaRPr lang="en-US" sz="1200" dirty="0"/>
          </a:p>
        </p:txBody>
      </p:sp>
      <p:sp>
        <p:nvSpPr>
          <p:cNvPr id="49" name="Text 47"/>
          <p:cNvSpPr/>
          <p:nvPr>
            <p:custDataLst>
              <p:tags r:id="rId42"/>
            </p:custDataLst>
          </p:nvPr>
        </p:nvSpPr>
        <p:spPr>
          <a:xfrm>
            <a:off x="914400" y="4370832"/>
            <a:ext cx="3429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en-GB" sz="1000" b="1">
                <a:solidFill>
                  <a:schemeClr val="bg2">
                    <a:lumMod val="50000"/>
                  </a:schemeClr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  <a:sym typeface="Cambria" panose="02040503050406030204"/>
              </a:rPr>
              <a:t> </a:t>
            </a:r>
            <a:r>
              <a:rPr lang="en-GB" altLang="en-US" sz="1000" b="1">
                <a:solidFill>
                  <a:schemeClr val="bg2">
                    <a:lumMod val="50000"/>
                  </a:schemeClr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  <a:sym typeface="Cambria" panose="02040503050406030204"/>
              </a:rPr>
              <a:t>B</a:t>
            </a:r>
            <a:r>
              <a:rPr lang="en-US" altLang="en-GB" sz="1000" b="1">
                <a:solidFill>
                  <a:schemeClr val="bg2">
                    <a:lumMod val="50000"/>
                  </a:schemeClr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  <a:sym typeface="Cambria" panose="02040503050406030204"/>
              </a:rPr>
              <a:t>uild a simple and accurate system that can detect diabetes early.</a:t>
            </a:r>
            <a:endParaRPr lang="en-US" altLang="en-GB" sz="1000" b="1">
              <a:solidFill>
                <a:schemeClr val="bg2">
                  <a:lumMod val="50000"/>
                </a:schemeClr>
              </a:solidFill>
              <a:latin typeface="Times New Roman" panose="02020603050405020304" charset="0"/>
              <a:ea typeface="Cambria" panose="02040503050406030204"/>
              <a:cs typeface="Times New Roman" panose="02020603050405020304" charset="0"/>
              <a:sym typeface="Cambria" panose="02040503050406030204"/>
            </a:endParaRPr>
          </a:p>
          <a:p>
            <a:pPr marL="0" indent="0">
              <a:buNone/>
            </a:pPr>
            <a:endParaRPr lang="en-US" altLang="en-GB" sz="1000" b="1" dirty="0">
              <a:solidFill>
                <a:schemeClr val="bg2">
                  <a:lumMod val="50000"/>
                </a:schemeClr>
              </a:solidFill>
              <a:latin typeface="Times New Roman" panose="02020603050405020304" charset="0"/>
              <a:ea typeface="Cambria" panose="02040503050406030204"/>
              <a:cs typeface="Times New Roman" panose="02020603050405020304" charset="0"/>
              <a:sym typeface="Cambria" panose="02040503050406030204"/>
            </a:endParaRPr>
          </a:p>
        </p:txBody>
      </p:sp>
      <p:sp>
        <p:nvSpPr>
          <p:cNvPr id="50" name="Shape 48"/>
          <p:cNvSpPr/>
          <p:nvPr>
            <p:custDataLst>
              <p:tags r:id="rId43"/>
            </p:custDataLst>
          </p:nvPr>
        </p:nvSpPr>
        <p:spPr>
          <a:xfrm>
            <a:off x="4709160" y="4023360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F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1" name="Shape 49"/>
          <p:cNvSpPr/>
          <p:nvPr>
            <p:custDataLst>
              <p:tags r:id="rId44"/>
            </p:custDataLst>
          </p:nvPr>
        </p:nvSpPr>
        <p:spPr>
          <a:xfrm>
            <a:off x="4709160" y="4023360"/>
            <a:ext cx="54864" cy="868680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</p:sp>
      <p:sp>
        <p:nvSpPr>
          <p:cNvPr id="52" name="Shape 50"/>
          <p:cNvSpPr/>
          <p:nvPr>
            <p:custDataLst>
              <p:tags r:id="rId45"/>
            </p:custDataLst>
          </p:nvPr>
        </p:nvSpPr>
        <p:spPr>
          <a:xfrm>
            <a:off x="4800600" y="4224528"/>
            <a:ext cx="457200" cy="457200"/>
          </a:xfrm>
          <a:prstGeom prst="ellipse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</p:sp>
      <p:sp>
        <p:nvSpPr>
          <p:cNvPr id="53" name="Text 51"/>
          <p:cNvSpPr/>
          <p:nvPr>
            <p:custDataLst>
              <p:tags r:id="rId46"/>
            </p:custDataLst>
          </p:nvPr>
        </p:nvSpPr>
        <p:spPr>
          <a:xfrm>
            <a:off x="4800600" y="42245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300" dirty="0"/>
          </a:p>
        </p:txBody>
      </p:sp>
      <p:sp>
        <p:nvSpPr>
          <p:cNvPr id="54" name="Text 52"/>
          <p:cNvSpPr/>
          <p:nvPr>
            <p:custDataLst>
              <p:tags r:id="rId47"/>
            </p:custDataLst>
          </p:nvPr>
        </p:nvSpPr>
        <p:spPr>
          <a:xfrm>
            <a:off x="5349240" y="4078224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Clinical Support</a:t>
            </a:r>
            <a:endParaRPr lang="en-US" sz="1200" dirty="0"/>
          </a:p>
        </p:txBody>
      </p:sp>
      <p:sp>
        <p:nvSpPr>
          <p:cNvPr id="55" name="Text 53"/>
          <p:cNvSpPr/>
          <p:nvPr>
            <p:custDataLst>
              <p:tags r:id="rId48"/>
            </p:custDataLst>
          </p:nvPr>
        </p:nvSpPr>
        <p:spPr>
          <a:xfrm>
            <a:off x="5349240" y="4352417"/>
            <a:ext cx="3429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Provide doctors with fast, reliable, ML-powered diagnostic assistance</a:t>
            </a:r>
            <a:endParaRPr lang="en-US" sz="1000" b="1" dirty="0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10058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6858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Methodology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6858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Step-by-step research workflow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15315" y="4193667"/>
            <a:ext cx="9144000" cy="310896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Shape 6"/>
          <p:cNvSpPr/>
          <p:nvPr>
            <p:custDataLst>
              <p:tags r:id="rId1"/>
            </p:custDataLst>
          </p:nvPr>
        </p:nvSpPr>
        <p:spPr>
          <a:xfrm>
            <a:off x="960120" y="1755648"/>
            <a:ext cx="320040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9" name="Text 7"/>
          <p:cNvSpPr/>
          <p:nvPr>
            <p:custDataLst>
              <p:tags r:id="rId2"/>
            </p:custDataLst>
          </p:nvPr>
        </p:nvSpPr>
        <p:spPr>
          <a:xfrm>
            <a:off x="1161288" y="1636776"/>
            <a:ext cx="1645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89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880" y="1188720"/>
            <a:ext cx="822960" cy="82296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000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71600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5720" y="2084832"/>
            <a:ext cx="109728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Patient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Health Data</a:t>
            </a:r>
            <a:endParaRPr lang="en-US" sz="900" dirty="0"/>
          </a:p>
        </p:txBody>
      </p:sp>
      <p:sp>
        <p:nvSpPr>
          <p:cNvPr id="13" name="Shape 10"/>
          <p:cNvSpPr/>
          <p:nvPr>
            <p:custDataLst>
              <p:tags r:id="rId4"/>
            </p:custDataLst>
          </p:nvPr>
        </p:nvSpPr>
        <p:spPr>
          <a:xfrm>
            <a:off x="2057400" y="1755648"/>
            <a:ext cx="320040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Text 11"/>
          <p:cNvSpPr/>
          <p:nvPr>
            <p:custDataLst>
              <p:tags r:id="rId5"/>
            </p:custDataLst>
          </p:nvPr>
        </p:nvSpPr>
        <p:spPr>
          <a:xfrm>
            <a:off x="2258568" y="1636776"/>
            <a:ext cx="1645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89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000" dirty="0"/>
          </a:p>
        </p:txBody>
      </p:sp>
      <p:sp>
        <p:nvSpPr>
          <p:cNvPr id="15" name="Shape 12"/>
          <p:cNvSpPr/>
          <p:nvPr>
            <p:custDataLst>
              <p:tags r:id="rId6"/>
            </p:custDataLst>
          </p:nvPr>
        </p:nvSpPr>
        <p:spPr>
          <a:xfrm>
            <a:off x="1280160" y="1188720"/>
            <a:ext cx="822960" cy="82296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000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6" name="Image 1" descr="preencoded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463040" y="137160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>
            <p:custDataLst>
              <p:tags r:id="rId9"/>
            </p:custDataLst>
          </p:nvPr>
        </p:nvSpPr>
        <p:spPr>
          <a:xfrm>
            <a:off x="1143000" y="2084832"/>
            <a:ext cx="109728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GB" alt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</a:t>
            </a:r>
            <a:endParaRPr lang="en-GB" altLang="en-US" sz="9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Preproces</a:t>
            </a:r>
            <a:r>
              <a:rPr lang="en-GB" alt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sing</a:t>
            </a:r>
            <a:endParaRPr lang="en-GB" altLang="en-US" sz="9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8" name="Shape 14"/>
          <p:cNvSpPr/>
          <p:nvPr>
            <p:custDataLst>
              <p:tags r:id="rId10"/>
            </p:custDataLst>
          </p:nvPr>
        </p:nvSpPr>
        <p:spPr>
          <a:xfrm>
            <a:off x="3154680" y="1755648"/>
            <a:ext cx="320040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9" name="Text 15"/>
          <p:cNvSpPr/>
          <p:nvPr>
            <p:custDataLst>
              <p:tags r:id="rId11"/>
            </p:custDataLst>
          </p:nvPr>
        </p:nvSpPr>
        <p:spPr>
          <a:xfrm>
            <a:off x="3355848" y="1636776"/>
            <a:ext cx="1645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89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000" dirty="0"/>
          </a:p>
        </p:txBody>
      </p:sp>
      <p:sp>
        <p:nvSpPr>
          <p:cNvPr id="20" name="Shape 16"/>
          <p:cNvSpPr/>
          <p:nvPr>
            <p:custDataLst>
              <p:tags r:id="rId12"/>
            </p:custDataLst>
          </p:nvPr>
        </p:nvSpPr>
        <p:spPr>
          <a:xfrm>
            <a:off x="2377440" y="1188720"/>
            <a:ext cx="822960" cy="82296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000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1" name="Image 2" descr="preencoded.pn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2560320" y="1371600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>
            <p:custDataLst>
              <p:tags r:id="rId15"/>
            </p:custDataLst>
          </p:nvPr>
        </p:nvSpPr>
        <p:spPr>
          <a:xfrm>
            <a:off x="2240280" y="2084832"/>
            <a:ext cx="109728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80/20, 60/40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40/60</a:t>
            </a:r>
            <a:endParaRPr lang="en-US" sz="900" dirty="0"/>
          </a:p>
        </p:txBody>
      </p:sp>
      <p:sp>
        <p:nvSpPr>
          <p:cNvPr id="23" name="Shape 18"/>
          <p:cNvSpPr/>
          <p:nvPr>
            <p:custDataLst>
              <p:tags r:id="rId16"/>
            </p:custDataLst>
          </p:nvPr>
        </p:nvSpPr>
        <p:spPr>
          <a:xfrm>
            <a:off x="4251960" y="1755648"/>
            <a:ext cx="320040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4" name="Text 19"/>
          <p:cNvSpPr/>
          <p:nvPr>
            <p:custDataLst>
              <p:tags r:id="rId17"/>
            </p:custDataLst>
          </p:nvPr>
        </p:nvSpPr>
        <p:spPr>
          <a:xfrm>
            <a:off x="4453128" y="1636776"/>
            <a:ext cx="1645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89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000" dirty="0"/>
          </a:p>
        </p:txBody>
      </p:sp>
      <p:sp>
        <p:nvSpPr>
          <p:cNvPr id="25" name="Shape 20"/>
          <p:cNvSpPr/>
          <p:nvPr>
            <p:custDataLst>
              <p:tags r:id="rId18"/>
            </p:custDataLst>
          </p:nvPr>
        </p:nvSpPr>
        <p:spPr>
          <a:xfrm>
            <a:off x="3474720" y="1188720"/>
            <a:ext cx="822960" cy="82296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000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6" name="Image 3" descr="preencoded.png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3657600" y="1371600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/>
          <p:nvPr>
            <p:custDataLst>
              <p:tags r:id="rId21"/>
            </p:custDataLst>
          </p:nvPr>
        </p:nvSpPr>
        <p:spPr>
          <a:xfrm>
            <a:off x="3337560" y="2084832"/>
            <a:ext cx="109728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GB" alt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Apply </a:t>
            </a:r>
            <a:endParaRPr lang="en-GB" altLang="en-US" sz="9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Kernel PCA</a:t>
            </a:r>
            <a:endParaRPr lang="en-US" sz="900" dirty="0"/>
          </a:p>
        </p:txBody>
      </p:sp>
      <p:sp>
        <p:nvSpPr>
          <p:cNvPr id="28" name="Shape 22"/>
          <p:cNvSpPr/>
          <p:nvPr>
            <p:custDataLst>
              <p:tags r:id="rId22"/>
            </p:custDataLst>
          </p:nvPr>
        </p:nvSpPr>
        <p:spPr>
          <a:xfrm>
            <a:off x="5349240" y="1755648"/>
            <a:ext cx="320040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9" name="Text 23"/>
          <p:cNvSpPr/>
          <p:nvPr>
            <p:custDataLst>
              <p:tags r:id="rId23"/>
            </p:custDataLst>
          </p:nvPr>
        </p:nvSpPr>
        <p:spPr>
          <a:xfrm>
            <a:off x="5550408" y="1636776"/>
            <a:ext cx="1645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89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000" dirty="0"/>
          </a:p>
        </p:txBody>
      </p:sp>
      <p:sp>
        <p:nvSpPr>
          <p:cNvPr id="30" name="Shape 24"/>
          <p:cNvSpPr/>
          <p:nvPr>
            <p:custDataLst>
              <p:tags r:id="rId24"/>
            </p:custDataLst>
          </p:nvPr>
        </p:nvSpPr>
        <p:spPr>
          <a:xfrm>
            <a:off x="4572000" y="1188720"/>
            <a:ext cx="822960" cy="82296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000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31" name="Image 4" descr="preencoded.png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/>
          <a:stretch>
            <a:fillRect/>
          </a:stretch>
        </p:blipFill>
        <p:spPr>
          <a:xfrm>
            <a:off x="4754880" y="1371600"/>
            <a:ext cx="457200" cy="457200"/>
          </a:xfrm>
          <a:prstGeom prst="rect">
            <a:avLst/>
          </a:prstGeom>
        </p:spPr>
      </p:pic>
      <p:sp>
        <p:nvSpPr>
          <p:cNvPr id="32" name="Text 25"/>
          <p:cNvSpPr/>
          <p:nvPr>
            <p:custDataLst>
              <p:tags r:id="rId27"/>
            </p:custDataLst>
          </p:nvPr>
        </p:nvSpPr>
        <p:spPr>
          <a:xfrm>
            <a:off x="4434840" y="2084832"/>
            <a:ext cx="109728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GB" alt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</a:t>
            </a: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 ML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Models</a:t>
            </a:r>
            <a:endParaRPr lang="en-US" sz="900" dirty="0"/>
          </a:p>
        </p:txBody>
      </p:sp>
      <p:sp>
        <p:nvSpPr>
          <p:cNvPr id="33" name="Shape 26"/>
          <p:cNvSpPr/>
          <p:nvPr>
            <p:custDataLst>
              <p:tags r:id="rId28"/>
            </p:custDataLst>
          </p:nvPr>
        </p:nvSpPr>
        <p:spPr>
          <a:xfrm>
            <a:off x="6446520" y="1755648"/>
            <a:ext cx="320040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4" name="Text 27"/>
          <p:cNvSpPr/>
          <p:nvPr>
            <p:custDataLst>
              <p:tags r:id="rId29"/>
            </p:custDataLst>
          </p:nvPr>
        </p:nvSpPr>
        <p:spPr>
          <a:xfrm>
            <a:off x="6647688" y="1636776"/>
            <a:ext cx="1645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89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000" dirty="0"/>
          </a:p>
        </p:txBody>
      </p:sp>
      <p:sp>
        <p:nvSpPr>
          <p:cNvPr id="35" name="Shape 28"/>
          <p:cNvSpPr/>
          <p:nvPr>
            <p:custDataLst>
              <p:tags r:id="rId30"/>
            </p:custDataLst>
          </p:nvPr>
        </p:nvSpPr>
        <p:spPr>
          <a:xfrm>
            <a:off x="5669280" y="1188720"/>
            <a:ext cx="822960" cy="82296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000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36" name="Image 5" descr="preencoded.png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/>
          <a:stretch>
            <a:fillRect/>
          </a:stretch>
        </p:blipFill>
        <p:spPr>
          <a:xfrm>
            <a:off x="5852160" y="1371600"/>
            <a:ext cx="457200" cy="457200"/>
          </a:xfrm>
          <a:prstGeom prst="rect">
            <a:avLst/>
          </a:prstGeom>
        </p:spPr>
      </p:pic>
      <p:sp>
        <p:nvSpPr>
          <p:cNvPr id="37" name="Text 29"/>
          <p:cNvSpPr/>
          <p:nvPr>
            <p:custDataLst>
              <p:tags r:id="rId33"/>
            </p:custDataLst>
          </p:nvPr>
        </p:nvSpPr>
        <p:spPr>
          <a:xfrm>
            <a:off x="5532120" y="2084832"/>
            <a:ext cx="109728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Evaluate 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</a:t>
            </a:r>
            <a:r>
              <a:rPr lang="en-GB" alt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</a:t>
            </a:r>
            <a:endParaRPr lang="en-GB" altLang="en-US" sz="9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8" name="Shape 30"/>
          <p:cNvSpPr/>
          <p:nvPr>
            <p:custDataLst>
              <p:tags r:id="rId34"/>
            </p:custDataLst>
          </p:nvPr>
        </p:nvSpPr>
        <p:spPr>
          <a:xfrm>
            <a:off x="7543800" y="1755648"/>
            <a:ext cx="320040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9" name="Text 31"/>
          <p:cNvSpPr/>
          <p:nvPr>
            <p:custDataLst>
              <p:tags r:id="rId35"/>
            </p:custDataLst>
          </p:nvPr>
        </p:nvSpPr>
        <p:spPr>
          <a:xfrm>
            <a:off x="7744968" y="1636776"/>
            <a:ext cx="1645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89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000" dirty="0"/>
          </a:p>
        </p:txBody>
      </p:sp>
      <p:sp>
        <p:nvSpPr>
          <p:cNvPr id="40" name="Shape 32"/>
          <p:cNvSpPr/>
          <p:nvPr>
            <p:custDataLst>
              <p:tags r:id="rId36"/>
            </p:custDataLst>
          </p:nvPr>
        </p:nvSpPr>
        <p:spPr>
          <a:xfrm>
            <a:off x="6766560" y="1188720"/>
            <a:ext cx="822960" cy="82296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000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41" name="Image 6" descr="preencoded.png"/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38"/>
          <a:stretch>
            <a:fillRect/>
          </a:stretch>
        </p:blipFill>
        <p:spPr>
          <a:xfrm>
            <a:off x="6949440" y="1371600"/>
            <a:ext cx="457200" cy="457200"/>
          </a:xfrm>
          <a:prstGeom prst="rect">
            <a:avLst/>
          </a:prstGeom>
        </p:spPr>
      </p:pic>
      <p:sp>
        <p:nvSpPr>
          <p:cNvPr id="42" name="Text 33"/>
          <p:cNvSpPr/>
          <p:nvPr>
            <p:custDataLst>
              <p:tags r:id="rId39"/>
            </p:custDataLst>
          </p:nvPr>
        </p:nvSpPr>
        <p:spPr>
          <a:xfrm>
            <a:off x="6629400" y="2084832"/>
            <a:ext cx="109728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Performance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Metrics</a:t>
            </a:r>
            <a:endParaRPr lang="en-US" sz="900" dirty="0"/>
          </a:p>
        </p:txBody>
      </p:sp>
      <p:sp>
        <p:nvSpPr>
          <p:cNvPr id="43" name="Shape 34"/>
          <p:cNvSpPr/>
          <p:nvPr>
            <p:custDataLst>
              <p:tags r:id="rId40"/>
            </p:custDataLst>
          </p:nvPr>
        </p:nvSpPr>
        <p:spPr>
          <a:xfrm>
            <a:off x="7863840" y="1188720"/>
            <a:ext cx="822960" cy="822960"/>
          </a:xfrm>
          <a:prstGeom prst="ellipse">
            <a:avLst/>
          </a:prstGeom>
          <a:solidFill>
            <a:srgbClr val="FFD600"/>
          </a:solidFill>
          <a:ln w="12700">
            <a:solidFill>
              <a:srgbClr val="00000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44" name="Image 7" descr="preencoded.png"/>
          <p:cNvPicPr>
            <a:picLocks noChangeAspect="1"/>
          </p:cNvPicPr>
          <p:nvPr>
            <p:custDataLst>
              <p:tags r:id="rId41"/>
            </p:custDataLst>
          </p:nvPr>
        </p:nvPicPr>
        <p:blipFill>
          <a:blip r:embed="rId42"/>
          <a:stretch>
            <a:fillRect/>
          </a:stretch>
        </p:blipFill>
        <p:spPr>
          <a:xfrm>
            <a:off x="8046720" y="1371600"/>
            <a:ext cx="457200" cy="457200"/>
          </a:xfrm>
          <a:prstGeom prst="rect">
            <a:avLst/>
          </a:prstGeom>
        </p:spPr>
      </p:pic>
      <p:sp>
        <p:nvSpPr>
          <p:cNvPr id="45" name="Text 35"/>
          <p:cNvSpPr/>
          <p:nvPr>
            <p:custDataLst>
              <p:tags r:id="rId43"/>
            </p:custDataLst>
          </p:nvPr>
        </p:nvSpPr>
        <p:spPr>
          <a:xfrm>
            <a:off x="7726680" y="2084832"/>
            <a:ext cx="109728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Best Model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&amp; Split</a:t>
            </a:r>
            <a:endParaRPr lang="en-US" sz="900" dirty="0"/>
          </a:p>
        </p:txBody>
      </p:sp>
      <p:sp>
        <p:nvSpPr>
          <p:cNvPr id="54" name="Text Box 53"/>
          <p:cNvSpPr txBox="1"/>
          <p:nvPr/>
        </p:nvSpPr>
        <p:spPr>
          <a:xfrm>
            <a:off x="508000" y="2571750"/>
            <a:ext cx="7490460" cy="20815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704850" lvl="0" indent="-2857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 panose="020B0604020202020204" pitchFamily="34" charset="0"/>
              <a:buChar char="•"/>
            </a:pPr>
            <a:r>
              <a:rPr lang="en-US" altLang="en-GB">
                <a:solidFill>
                  <a:schemeClr val="bg1"/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  <a:sym typeface="Cambria" panose="02040503050406030204"/>
              </a:rPr>
              <a:t>Collect patient health data.</a:t>
            </a:r>
            <a:endParaRPr lang="en-US" altLang="en-GB">
              <a:solidFill>
                <a:schemeClr val="bg1"/>
              </a:solidFill>
              <a:latin typeface="Times New Roman" panose="02020603050405020304" charset="0"/>
              <a:ea typeface="Cambria" panose="02040503050406030204"/>
              <a:cs typeface="Times New Roman" panose="02020603050405020304" charset="0"/>
              <a:sym typeface="Cambria" panose="02040503050406030204"/>
            </a:endParaRPr>
          </a:p>
          <a:p>
            <a:pPr marL="704850" lvl="0" indent="-2857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 panose="020B0604020202020204" pitchFamily="34" charset="0"/>
              <a:buChar char="•"/>
            </a:pPr>
            <a:r>
              <a:rPr lang="en-US" altLang="en-GB">
                <a:solidFill>
                  <a:schemeClr val="bg1"/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  <a:sym typeface="Cambria" panose="02040503050406030204"/>
              </a:rPr>
              <a:t>Clean and prepare the data.</a:t>
            </a:r>
            <a:endParaRPr lang="en-US" altLang="en-GB">
              <a:solidFill>
                <a:schemeClr val="bg1"/>
              </a:solidFill>
              <a:latin typeface="Times New Roman" panose="02020603050405020304" charset="0"/>
              <a:ea typeface="Cambria" panose="02040503050406030204"/>
              <a:cs typeface="Times New Roman" panose="02020603050405020304" charset="0"/>
              <a:sym typeface="Cambria" panose="02040503050406030204"/>
            </a:endParaRPr>
          </a:p>
          <a:p>
            <a:pPr marL="704850" lvl="0" indent="-2857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 panose="020B0604020202020204" pitchFamily="34" charset="0"/>
              <a:buChar char="•"/>
            </a:pPr>
            <a:r>
              <a:rPr lang="en-US" altLang="en-GB">
                <a:solidFill>
                  <a:schemeClr val="bg1"/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  <a:sym typeface="Cambria" panose="02040503050406030204"/>
              </a:rPr>
              <a:t>Split the dataset into 80–20, 60–40, and 40–60 for training and testing.</a:t>
            </a:r>
            <a:endParaRPr lang="en-US" altLang="en-GB">
              <a:solidFill>
                <a:schemeClr val="bg1"/>
              </a:solidFill>
              <a:latin typeface="Times New Roman" panose="02020603050405020304" charset="0"/>
              <a:ea typeface="Cambria" panose="02040503050406030204"/>
              <a:cs typeface="Times New Roman" panose="02020603050405020304" charset="0"/>
              <a:sym typeface="Cambria" panose="02040503050406030204"/>
            </a:endParaRPr>
          </a:p>
          <a:p>
            <a:pPr marL="704850" lvl="0" indent="-2857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 panose="020B0604020202020204" pitchFamily="34" charset="0"/>
              <a:buChar char="•"/>
            </a:pPr>
            <a:r>
              <a:rPr lang="en-US" altLang="en-GB">
                <a:solidFill>
                  <a:schemeClr val="bg1"/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  <a:sym typeface="Cambria" panose="02040503050406030204"/>
              </a:rPr>
              <a:t>Apply Kernel PCA to reduce features.</a:t>
            </a:r>
            <a:endParaRPr lang="en-US" altLang="en-GB">
              <a:solidFill>
                <a:schemeClr val="bg1"/>
              </a:solidFill>
              <a:latin typeface="Times New Roman" panose="02020603050405020304" charset="0"/>
              <a:ea typeface="Cambria" panose="02040503050406030204"/>
              <a:cs typeface="Times New Roman" panose="02020603050405020304" charset="0"/>
              <a:sym typeface="Cambria" panose="02040503050406030204"/>
            </a:endParaRPr>
          </a:p>
          <a:p>
            <a:pPr marL="704850" lvl="0" indent="-2857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 panose="020B0604020202020204" pitchFamily="34" charset="0"/>
              <a:buChar char="•"/>
            </a:pPr>
            <a:r>
              <a:rPr lang="en-US" altLang="en-GB">
                <a:solidFill>
                  <a:schemeClr val="bg1"/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  <a:sym typeface="Cambria" panose="02040503050406030204"/>
              </a:rPr>
              <a:t>Train 15 machine learning models.</a:t>
            </a:r>
            <a:endParaRPr lang="en-US" altLang="en-GB">
              <a:solidFill>
                <a:schemeClr val="bg1"/>
              </a:solidFill>
              <a:latin typeface="Times New Roman" panose="02020603050405020304" charset="0"/>
              <a:ea typeface="Cambria" panose="02040503050406030204"/>
              <a:cs typeface="Times New Roman" panose="02020603050405020304" charset="0"/>
              <a:sym typeface="Cambria" panose="02040503050406030204"/>
            </a:endParaRPr>
          </a:p>
          <a:p>
            <a:pPr marL="704850" lvl="0" indent="-2857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 panose="020B0604020202020204" pitchFamily="34" charset="0"/>
              <a:buChar char="•"/>
            </a:pPr>
            <a:r>
              <a:rPr lang="en-US" altLang="en-GB">
                <a:solidFill>
                  <a:schemeClr val="bg1"/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  <a:sym typeface="Cambria" panose="02040503050406030204"/>
              </a:rPr>
              <a:t>Test the models on the test data.</a:t>
            </a:r>
            <a:endParaRPr lang="en-US" altLang="en-GB">
              <a:solidFill>
                <a:schemeClr val="bg1"/>
              </a:solidFill>
              <a:latin typeface="Times New Roman" panose="02020603050405020304" charset="0"/>
              <a:ea typeface="Cambria" panose="02040503050406030204"/>
              <a:cs typeface="Times New Roman" panose="02020603050405020304" charset="0"/>
              <a:sym typeface="Cambria" panose="02040503050406030204"/>
            </a:endParaRPr>
          </a:p>
          <a:p>
            <a:pPr marL="704850" lvl="0" indent="-2857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 panose="020B0604020202020204" pitchFamily="34" charset="0"/>
              <a:buChar char="•"/>
            </a:pPr>
            <a:r>
              <a:rPr lang="en-US" altLang="en-GB">
                <a:solidFill>
                  <a:schemeClr val="bg1"/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  <a:sym typeface="Cambria" panose="02040503050406030204"/>
              </a:rPr>
              <a:t>Evaluate and compare their performance.</a:t>
            </a:r>
            <a:endParaRPr lang="en-US" altLang="en-GB">
              <a:solidFill>
                <a:schemeClr val="bg1"/>
              </a:solidFill>
              <a:latin typeface="Times New Roman" panose="02020603050405020304" charset="0"/>
              <a:ea typeface="Cambria" panose="02040503050406030204"/>
              <a:cs typeface="Times New Roman" panose="02020603050405020304" charset="0"/>
              <a:sym typeface="Cambria" panose="02040503050406030204"/>
            </a:endParaRPr>
          </a:p>
          <a:p>
            <a:pPr marL="704850" lvl="0" indent="-2857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 panose="020B0604020202020204" pitchFamily="34" charset="0"/>
              <a:buChar char="•"/>
            </a:pPr>
            <a:r>
              <a:rPr lang="en-US" altLang="en-GB">
                <a:solidFill>
                  <a:schemeClr val="bg1"/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  <a:sym typeface="Cambria" panose="02040503050406030204"/>
              </a:rPr>
              <a:t>Select the best model and best split ratio.</a:t>
            </a:r>
            <a:endParaRPr lang="en-US" altLang="en-GB">
              <a:solidFill>
                <a:schemeClr val="bg1"/>
              </a:solidFill>
              <a:latin typeface="Times New Roman" panose="02020603050405020304" charset="0"/>
              <a:ea typeface="Cambria" panose="02040503050406030204"/>
              <a:cs typeface="Times New Roman" panose="02020603050405020304" charset="0"/>
              <a:sym typeface="Cambria" panose="02040503050406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658368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21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Software Tools &amp; Experimental Setup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" y="1161288"/>
            <a:ext cx="868680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864608"/>
            <a:ext cx="7772400" cy="2788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138160" y="4864608"/>
            <a:ext cx="822960" cy="2788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49" name="Shape 36"/>
          <p:cNvSpPr/>
          <p:nvPr/>
        </p:nvSpPr>
        <p:spPr>
          <a:xfrm>
            <a:off x="183515" y="1334135"/>
            <a:ext cx="8802370" cy="3388360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p>
            <a:pPr marL="457200" lvl="0" indent="-3810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 panose="020B0604020202020204" pitchFamily="34" charset="0"/>
              <a:buChar char="•"/>
            </a:pPr>
            <a:r>
              <a:rPr lang="en-US" altLang="en-GB" b="1">
                <a:solidFill>
                  <a:schemeClr val="bg1"/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  <a:sym typeface="Cambria" panose="02040503050406030204"/>
              </a:rPr>
              <a:t>Anaconda Navigator</a:t>
            </a:r>
            <a:r>
              <a:rPr lang="en-US" altLang="en-GB">
                <a:solidFill>
                  <a:schemeClr val="bg1"/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  <a:sym typeface="Cambria" panose="02040503050406030204"/>
              </a:rPr>
              <a:t> – Used to manage Python, install required libraries, and run the entire project smoothly.</a:t>
            </a:r>
            <a:endParaRPr lang="en-US" altLang="en-GB">
              <a:solidFill>
                <a:schemeClr val="bg1"/>
              </a:solidFill>
              <a:latin typeface="Times New Roman" panose="02020603050405020304" charset="0"/>
              <a:ea typeface="Cambria" panose="02040503050406030204"/>
              <a:cs typeface="Times New Roman" panose="02020603050405020304" charset="0"/>
              <a:sym typeface="Cambria" panose="02040503050406030204"/>
            </a:endParaRPr>
          </a:p>
          <a:p>
            <a:pPr marL="457200" lvl="0" indent="-3810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 panose="020B0604020202020204" pitchFamily="34" charset="0"/>
              <a:buChar char="•"/>
            </a:pPr>
            <a:r>
              <a:rPr lang="en-US" altLang="en-GB" b="1">
                <a:solidFill>
                  <a:schemeClr val="bg1"/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  <a:sym typeface="Cambria" panose="02040503050406030204"/>
              </a:rPr>
              <a:t>Spyder IDE </a:t>
            </a:r>
            <a:r>
              <a:rPr lang="en-US" altLang="en-GB">
                <a:solidFill>
                  <a:schemeClr val="bg1"/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  <a:sym typeface="Cambria" panose="02040503050406030204"/>
              </a:rPr>
              <a:t>– The coding environment where we wrote, tested, and executed all Python programs.</a:t>
            </a:r>
            <a:endParaRPr lang="en-US" altLang="en-GB">
              <a:solidFill>
                <a:schemeClr val="bg1"/>
              </a:solidFill>
              <a:latin typeface="Times New Roman" panose="02020603050405020304" charset="0"/>
              <a:ea typeface="Cambria" panose="02040503050406030204"/>
              <a:cs typeface="Times New Roman" panose="02020603050405020304" charset="0"/>
              <a:sym typeface="Cambria" panose="02040503050406030204"/>
            </a:endParaRPr>
          </a:p>
          <a:p>
            <a:pPr marL="457200" lvl="0" indent="-3810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 panose="020B0604020202020204" pitchFamily="34" charset="0"/>
              <a:buChar char="•"/>
            </a:pPr>
            <a:r>
              <a:rPr lang="en-US" altLang="en-GB" b="1">
                <a:solidFill>
                  <a:schemeClr val="bg1"/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  <a:sym typeface="Cambria" panose="02040503050406030204"/>
              </a:rPr>
              <a:t>Python</a:t>
            </a:r>
            <a:r>
              <a:rPr lang="en-US" altLang="en-GB">
                <a:solidFill>
                  <a:schemeClr val="bg1"/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  <a:sym typeface="Cambria" panose="02040503050406030204"/>
              </a:rPr>
              <a:t> – The main programming language used for building and running machine learning models.</a:t>
            </a:r>
            <a:endParaRPr lang="en-US" altLang="en-GB">
              <a:solidFill>
                <a:schemeClr val="bg1"/>
              </a:solidFill>
              <a:latin typeface="Times New Roman" panose="02020603050405020304" charset="0"/>
              <a:ea typeface="Cambria" panose="02040503050406030204"/>
              <a:cs typeface="Times New Roman" panose="02020603050405020304" charset="0"/>
              <a:sym typeface="Cambria" panose="02040503050406030204"/>
            </a:endParaRPr>
          </a:p>
          <a:p>
            <a:pPr marL="457200" lvl="0" indent="-3810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 panose="020B0604020202020204" pitchFamily="34" charset="0"/>
              <a:buChar char="•"/>
            </a:pPr>
            <a:r>
              <a:rPr lang="en-US" altLang="en-GB" b="1">
                <a:solidFill>
                  <a:schemeClr val="bg1"/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  <a:sym typeface="Cambria" panose="02040503050406030204"/>
              </a:rPr>
              <a:t>Scikit-learn</a:t>
            </a:r>
            <a:r>
              <a:rPr lang="en-US" altLang="en-GB">
                <a:solidFill>
                  <a:schemeClr val="bg1"/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  <a:sym typeface="Cambria" panose="02040503050406030204"/>
              </a:rPr>
              <a:t> – Library that provides machine learning algorithms like SVM, KNN, Random Forest, and Kernel PCA.</a:t>
            </a:r>
            <a:endParaRPr lang="en-US" altLang="en-GB">
              <a:solidFill>
                <a:schemeClr val="bg1"/>
              </a:solidFill>
              <a:latin typeface="Times New Roman" panose="02020603050405020304" charset="0"/>
              <a:ea typeface="Cambria" panose="02040503050406030204"/>
              <a:cs typeface="Times New Roman" panose="02020603050405020304" charset="0"/>
              <a:sym typeface="Cambria" panose="02040503050406030204"/>
            </a:endParaRPr>
          </a:p>
          <a:p>
            <a:pPr marL="457200" lvl="0" indent="-3810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 panose="020B0604020202020204" pitchFamily="34" charset="0"/>
              <a:buChar char="•"/>
            </a:pPr>
            <a:r>
              <a:rPr lang="en-US" altLang="en-GB" b="1">
                <a:solidFill>
                  <a:schemeClr val="bg1"/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  <a:sym typeface="Cambria" panose="02040503050406030204"/>
              </a:rPr>
              <a:t>Pandas </a:t>
            </a:r>
            <a:r>
              <a:rPr lang="en-US" altLang="en-GB">
                <a:solidFill>
                  <a:schemeClr val="bg1"/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  <a:sym typeface="Cambria" panose="02040503050406030204"/>
              </a:rPr>
              <a:t>– Used for loading, cleaning, and organizing the dataset.</a:t>
            </a:r>
            <a:endParaRPr lang="en-US" altLang="en-GB">
              <a:solidFill>
                <a:schemeClr val="bg1"/>
              </a:solidFill>
              <a:latin typeface="Times New Roman" panose="02020603050405020304" charset="0"/>
              <a:ea typeface="Cambria" panose="02040503050406030204"/>
              <a:cs typeface="Times New Roman" panose="02020603050405020304" charset="0"/>
              <a:sym typeface="Cambria" panose="02040503050406030204"/>
            </a:endParaRPr>
          </a:p>
          <a:p>
            <a:pPr marL="457200" lvl="0" indent="-3810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 panose="020B0604020202020204" pitchFamily="34" charset="0"/>
              <a:buChar char="•"/>
            </a:pPr>
            <a:r>
              <a:rPr lang="en-US" altLang="en-GB" b="1">
                <a:solidFill>
                  <a:schemeClr val="bg1"/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  <a:sym typeface="Cambria" panose="02040503050406030204"/>
              </a:rPr>
              <a:t>NumPy</a:t>
            </a:r>
            <a:r>
              <a:rPr lang="en-US" altLang="en-GB">
                <a:solidFill>
                  <a:schemeClr val="bg1"/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  <a:sym typeface="Cambria" panose="02040503050406030204"/>
              </a:rPr>
              <a:t> – Used for performing numerical and mathematical operations.</a:t>
            </a:r>
            <a:endParaRPr lang="en-US" altLang="en-GB">
              <a:solidFill>
                <a:schemeClr val="bg1"/>
              </a:solidFill>
              <a:latin typeface="Times New Roman" panose="02020603050405020304" charset="0"/>
              <a:ea typeface="Cambria" panose="02040503050406030204"/>
              <a:cs typeface="Times New Roman" panose="02020603050405020304" charset="0"/>
              <a:sym typeface="Cambria" panose="02040503050406030204"/>
            </a:endParaRPr>
          </a:p>
          <a:p>
            <a:pPr marL="457200" lvl="0" indent="-3810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 panose="020B0604020202020204" pitchFamily="34" charset="0"/>
              <a:buChar char="•"/>
            </a:pPr>
            <a:r>
              <a:rPr lang="en-US" altLang="en-GB" b="1">
                <a:solidFill>
                  <a:schemeClr val="bg1"/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  <a:sym typeface="Cambria" panose="02040503050406030204"/>
              </a:rPr>
              <a:t>Matplotlib / Seaborn</a:t>
            </a:r>
            <a:r>
              <a:rPr lang="en-US" altLang="en-GB">
                <a:solidFill>
                  <a:schemeClr val="bg1"/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  <a:sym typeface="Cambria" panose="02040503050406030204"/>
              </a:rPr>
              <a:t> – Used to create graphs and visualize model performance.</a:t>
            </a:r>
            <a:endParaRPr lang="en-US" altLang="en-GB">
              <a:solidFill>
                <a:schemeClr val="bg1"/>
              </a:solidFill>
              <a:latin typeface="Times New Roman" panose="02020603050405020304" charset="0"/>
              <a:ea typeface="Cambria" panose="02040503050406030204"/>
              <a:cs typeface="Times New Roman" panose="02020603050405020304" charset="0"/>
              <a:sym typeface="Cambria" panose="02040503050406030204"/>
            </a:endParaRPr>
          </a:p>
          <a:p>
            <a:pPr marL="457200" lvl="0" indent="-3810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 panose="020B0604020202020204" pitchFamily="34" charset="0"/>
              <a:buChar char="•"/>
            </a:pPr>
            <a:r>
              <a:rPr lang="en-US" altLang="en-GB" b="1">
                <a:solidFill>
                  <a:schemeClr val="bg1"/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  <a:sym typeface="Cambria" panose="02040503050406030204"/>
              </a:rPr>
              <a:t>XGBoost &amp; CatBoost</a:t>
            </a:r>
            <a:r>
              <a:rPr lang="en-US" altLang="en-GB">
                <a:solidFill>
                  <a:schemeClr val="bg1"/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  <a:sym typeface="Cambria" panose="02040503050406030204"/>
              </a:rPr>
              <a:t> – Libraries used to run advanced boosting algorithms for higher accuracy.</a:t>
            </a:r>
            <a:r>
              <a:rPr lang="en-US">
                <a:solidFill>
                  <a:schemeClr val="bg1"/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  <a:sym typeface="Cambria" panose="02040503050406030204"/>
              </a:rPr>
              <a:t> </a:t>
            </a:r>
            <a:endParaRPr lang="en-US" altLang="en-US">
              <a:solidFill>
                <a:schemeClr val="bg1"/>
              </a:solidFill>
              <a:latin typeface="Times New Roman" panose="02020603050405020304" charset="0"/>
              <a:ea typeface="Cambria" panose="02040503050406030204"/>
              <a:cs typeface="Times New Roman" panose="02020603050405020304" charset="0"/>
              <a:sym typeface="Cambria" panose="02040503050406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10058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6858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Required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6858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Patient health records — features, preprocessing &amp; splits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28032"/>
            <a:ext cx="9144000" cy="310896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097280"/>
            <a:ext cx="1600200" cy="5486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" y="1097280"/>
            <a:ext cx="1600200" cy="54864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993392" y="1097280"/>
            <a:ext cx="1600200" cy="5486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993392" y="1097280"/>
            <a:ext cx="1600200" cy="54864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Gender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730752" y="1097280"/>
            <a:ext cx="1600200" cy="54864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30752" y="1097280"/>
            <a:ext cx="1600200" cy="54864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BMI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68112" y="1097280"/>
            <a:ext cx="1600200" cy="5486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68112" y="1097280"/>
            <a:ext cx="1600200" cy="54864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Blood Pressure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205472" y="1097280"/>
            <a:ext cx="1600200" cy="548640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205472" y="1097280"/>
            <a:ext cx="1600200" cy="54864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Glucose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56032" y="1755648"/>
            <a:ext cx="1600200" cy="54864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56032" y="1755648"/>
            <a:ext cx="1600200" cy="54864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Insulin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993392" y="1755648"/>
            <a:ext cx="1600200" cy="548640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993392" y="1755648"/>
            <a:ext cx="1600200" cy="54864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Skin Thickness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730752" y="1755648"/>
            <a:ext cx="1600200" cy="548640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730752" y="1755648"/>
            <a:ext cx="1600200" cy="54864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Pregnancies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68112" y="1755648"/>
            <a:ext cx="1600200" cy="548640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468112" y="1755648"/>
            <a:ext cx="1600200" cy="54864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Pedigree Function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205472" y="1755648"/>
            <a:ext cx="1600200" cy="548640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205472" y="1755648"/>
            <a:ext cx="1600200" cy="54864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Cholesterol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56032" y="2414016"/>
            <a:ext cx="1600200" cy="5486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56032" y="2414016"/>
            <a:ext cx="1600200" cy="54864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Heart Rate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993392" y="2414016"/>
            <a:ext cx="1600200" cy="54864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993392" y="2414016"/>
            <a:ext cx="1600200" cy="54864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Blood Cell Count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730752" y="2414016"/>
            <a:ext cx="1600200" cy="548640"/>
          </a:xfrm>
          <a:prstGeom prst="rect">
            <a:avLst/>
          </a:prstGeom>
          <a:solidFill>
            <a:srgbClr val="558B2F"/>
          </a:solidFill>
          <a:ln w="12700">
            <a:solidFill>
              <a:srgbClr val="558B2F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730752" y="2414016"/>
            <a:ext cx="1600200" cy="54864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Hemoglobin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68112" y="2414016"/>
            <a:ext cx="1600200" cy="5486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468112" y="2414016"/>
            <a:ext cx="1600200" cy="54864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Family History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205472" y="2414016"/>
            <a:ext cx="1600200" cy="548640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205472" y="2414016"/>
            <a:ext cx="1600200" cy="54864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Lifestyle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56032" y="3090672"/>
            <a:ext cx="8631936" cy="47548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6032" y="3090672"/>
            <a:ext cx="8631936" cy="475488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PREPROCESSING  |  Missing values → column mean fill   |   Categorical (gender) → numeric encoding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56032" y="3657600"/>
            <a:ext cx="2834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F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56032" y="3657600"/>
            <a:ext cx="283464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" y="3749040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 / Test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47472" y="393192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89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80% / 20%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347472" y="4261104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209544" y="3657600"/>
            <a:ext cx="2834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F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209544" y="3657600"/>
            <a:ext cx="283464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00984" y="3749040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 / Test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3300984" y="393192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60% / 40%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3300984" y="4261104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163056" y="3657600"/>
            <a:ext cx="2834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F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163056" y="3657600"/>
            <a:ext cx="2834640" cy="73152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54496" y="3749040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 / Test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254496" y="393192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B1FA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40% / 60%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6254496" y="4261104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10058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6858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6858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Performance benchmarks across 15 ML models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28032"/>
            <a:ext cx="9144000" cy="310896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943600" y="1097280"/>
            <a:ext cx="2926080" cy="1078992"/>
          </a:xfrm>
          <a:prstGeom prst="rect">
            <a:avLst/>
          </a:prstGeom>
          <a:solidFill>
            <a:srgbClr val="0D2137"/>
          </a:solidFill>
          <a:ln w="25400">
            <a:solidFill>
              <a:srgbClr val="00897B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943600" y="1170432"/>
            <a:ext cx="29260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89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100%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5943600" y="1719072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KSVM Accuracy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(80/20 split)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943600" y="2286000"/>
            <a:ext cx="2926080" cy="1078992"/>
          </a:xfrm>
          <a:prstGeom prst="rect">
            <a:avLst/>
          </a:prstGeom>
          <a:solidFill>
            <a:srgbClr val="0D2137"/>
          </a:solidFill>
          <a:ln w="25400">
            <a:solidFill>
              <a:srgbClr val="1565C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943600" y="2359152"/>
            <a:ext cx="29260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5943600" y="2907792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Tested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943600" y="3474720"/>
            <a:ext cx="2926080" cy="1078992"/>
          </a:xfrm>
          <a:prstGeom prst="rect">
            <a:avLst/>
          </a:prstGeom>
          <a:solidFill>
            <a:srgbClr val="0D2137"/>
          </a:solidFill>
          <a:ln w="25400">
            <a:solidFill>
              <a:srgbClr val="FFD60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943600" y="3547872"/>
            <a:ext cx="29260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D6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3600" dirty="0"/>
          </a:p>
        </p:txBody>
      </p:sp>
      <p:sp>
        <p:nvSpPr>
          <p:cNvPr id="17" name="Text 14"/>
          <p:cNvSpPr/>
          <p:nvPr/>
        </p:nvSpPr>
        <p:spPr>
          <a:xfrm>
            <a:off x="5943600" y="4096512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Split Ratios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Evaluated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274320" y="4645152"/>
            <a:ext cx="8595360" cy="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4320" y="4645152"/>
            <a:ext cx="85953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0" name="Text Box 19"/>
          <p:cNvSpPr txBox="1"/>
          <p:nvPr/>
        </p:nvSpPr>
        <p:spPr>
          <a:xfrm>
            <a:off x="-74295" y="1170305"/>
            <a:ext cx="5678805" cy="2168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lvl="0" indent="-3810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 panose="020B0604020202020204" pitchFamily="34" charset="0"/>
              <a:buChar char="•"/>
            </a:pPr>
            <a:r>
              <a:rPr lang="en-US" altLang="en-GB" sz="15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When we trained the models using 80% of the data, they performed very well and stayed stable, giving high accuracy (95–100%).</a:t>
            </a:r>
            <a:endParaRPr lang="en-US" altLang="en-GB" sz="15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810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 panose="020B0604020202020204" pitchFamily="34" charset="0"/>
              <a:buChar char="•"/>
            </a:pPr>
            <a:r>
              <a:rPr lang="en-US" altLang="en-GB" sz="15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But when we reduced the amount of training data, the models could not learn properly, so their accuracy dropped a lot</a:t>
            </a:r>
            <a:endParaRPr lang="en-US" altLang="en-GB" sz="15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810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 panose="020B0604020202020204" pitchFamily="34" charset="0"/>
              <a:buChar char="•"/>
            </a:pPr>
            <a:r>
              <a:rPr lang="en-US" altLang="en-GB" sz="15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This shows that the models are sensitive to training size, meaning they need enough examples to learn patterns correctly.</a:t>
            </a:r>
            <a:endParaRPr lang="en-US" altLang="en-GB" sz="15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810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 panose="020B0604020202020204" pitchFamily="34" charset="0"/>
              <a:buChar char="•"/>
            </a:pPr>
            <a:r>
              <a:rPr lang="en-US" altLang="en-GB" sz="15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Among all models, KSVM worked the best in every situation and did not lose much accuracy, proving it is strong and reliable even when data is limited</a:t>
            </a:r>
            <a:r>
              <a:rPr lang="en-GB" altLang="en-US" sz="15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.</a:t>
            </a:r>
            <a:endParaRPr lang="en-GB" altLang="en-US" sz="15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370205" y="3322955"/>
            <a:ext cx="4886325" cy="1129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7620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 panose="020B0604020202020204" pitchFamily="34" charset="0"/>
              <a:buNone/>
            </a:pPr>
            <a:r>
              <a:rPr lang="en-US" altLang="en-GB" sz="15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Benchmarking Against Previous Research</a:t>
            </a:r>
            <a:r>
              <a:rPr lang="en-GB" altLang="en-US" sz="15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:</a:t>
            </a:r>
            <a:endParaRPr lang="en-GB" altLang="en-US" sz="1500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7620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 panose="020B0604020202020204" pitchFamily="34" charset="0"/>
              <a:buNone/>
            </a:pPr>
            <a:r>
              <a:rPr lang="en-US" altLang="en-GB" sz="15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Our models achieved higher accuracy than older techniques, with KSVM reaching 100% accuracy and XGBoost and CatBoost above 99%, which is better than the results reported in previous diabetes prediction research.</a:t>
            </a:r>
            <a:endParaRPr lang="en-US" altLang="en-GB" sz="15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10058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6858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6858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Performance across ML models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28032"/>
            <a:ext cx="9144000" cy="310896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0" y="1170432"/>
            <a:ext cx="29260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16" name="Text 13"/>
          <p:cNvSpPr/>
          <p:nvPr/>
        </p:nvSpPr>
        <p:spPr>
          <a:xfrm>
            <a:off x="5943600" y="3547872"/>
            <a:ext cx="29260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17" name="Text 14"/>
          <p:cNvSpPr/>
          <p:nvPr/>
        </p:nvSpPr>
        <p:spPr>
          <a:xfrm>
            <a:off x="5943600" y="4096512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274320" y="4645152"/>
            <a:ext cx="8595360" cy="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4320" y="4645152"/>
            <a:ext cx="85953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1235075" y="1065530"/>
          <a:ext cx="6886575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10058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6858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6858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takeaways and future impact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28032"/>
            <a:ext cx="9144000" cy="310896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5" name="Text Box 44"/>
          <p:cNvSpPr txBox="1"/>
          <p:nvPr/>
        </p:nvSpPr>
        <p:spPr>
          <a:xfrm>
            <a:off x="457200" y="1163955"/>
            <a:ext cx="8270240" cy="31102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  <a:sym typeface="+mn-ea"/>
              </a:rPr>
              <a:t>Machine learning can help predict diabetes accurately using patient health data.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  <a:sym typeface="+mn-ea"/>
              </a:rPr>
              <a:t>We tested 15 machine learning models to find the best one for predicting diabetes.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KSVM (Linear) model gave the best result with 100% accuracy.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  <a:sym typeface="+mn-ea"/>
              </a:rPr>
              <a:t>Models like XGBoost, CatBoost, and AdaBoost also performed very well (98–99% accuracy).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  <a:sym typeface="+mn-ea"/>
              </a:rPr>
              <a:t>Using 80% data for training and 20% for testing gave the highest accuracy.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  <a:sym typeface="+mn-ea"/>
              </a:rPr>
              <a:t>When training data was reduced, accuracy dropped, showing the importance of more training data.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  <a:sym typeface="+mn-ea"/>
              </a:rPr>
              <a:t>Machine learning can help doctors detect diabetes early and more accurately.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  <a:sym typeface="+mn-ea"/>
              </a:rPr>
              <a:t>This system can improve healthcare by giving fast and automatic diagnostic support.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361950" lvl="0" indent="-2857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 panose="020B0604020202020204" pitchFamily="34" charset="0"/>
              <a:buChar char="•"/>
            </a:pP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10058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1015" y="328930"/>
            <a:ext cx="6858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sym typeface="+mn-ea"/>
              </a:rPr>
              <a:t>🔭  Future Work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6858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28032"/>
            <a:ext cx="9144000" cy="310896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0" y="1170432"/>
            <a:ext cx="29260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16" name="Text 13"/>
          <p:cNvSpPr/>
          <p:nvPr/>
        </p:nvSpPr>
        <p:spPr>
          <a:xfrm>
            <a:off x="5943600" y="3547872"/>
            <a:ext cx="29260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17" name="Text 14"/>
          <p:cNvSpPr/>
          <p:nvPr/>
        </p:nvSpPr>
        <p:spPr>
          <a:xfrm>
            <a:off x="5943600" y="4096512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274320" y="4645152"/>
            <a:ext cx="8595360" cy="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4320" y="4645152"/>
            <a:ext cx="85953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8" name="Text Box 7"/>
          <p:cNvSpPr txBox="1"/>
          <p:nvPr/>
        </p:nvSpPr>
        <p:spPr>
          <a:xfrm>
            <a:off x="816610" y="1076325"/>
            <a:ext cx="7748905" cy="29610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GB" b="1" dirty="0">
                <a:solidFill>
                  <a:schemeClr val="bg1"/>
                </a:solidFill>
                <a:sym typeface="+mn-ea"/>
              </a:rPr>
              <a:t>Train the model with large-scale, real-time hospital datasets to improve accuracy and reliability</a:t>
            </a:r>
            <a:endParaRPr lang="en-US" altLang="en-GB" b="1" dirty="0">
              <a:solidFill>
                <a:schemeClr val="bg1"/>
              </a:solidFill>
              <a:sym typeface="+mn-ea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GB" b="1" dirty="0">
                <a:solidFill>
                  <a:schemeClr val="bg1"/>
                </a:solidFill>
                <a:sym typeface="+mn-ea"/>
              </a:rPr>
              <a:t>Try deep learning models like Neural Networks</a:t>
            </a:r>
            <a:r>
              <a:rPr lang="en-GB" altLang="en-US" b="1" dirty="0">
                <a:solidFill>
                  <a:schemeClr val="bg1"/>
                </a:solidFill>
                <a:sym typeface="+mn-ea"/>
              </a:rPr>
              <a:t> </a:t>
            </a:r>
            <a:endParaRPr lang="en-GB" altLang="en-US" b="1" dirty="0">
              <a:solidFill>
                <a:schemeClr val="bg1"/>
              </a:solidFill>
              <a:sym typeface="+mn-ea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GB" b="1" dirty="0">
                <a:solidFill>
                  <a:schemeClr val="bg1"/>
                </a:solidFill>
                <a:sym typeface="+mn-ea"/>
              </a:rPr>
              <a:t>Develop a mobile and web application for easy access by patients and doctors</a:t>
            </a:r>
            <a:endParaRPr lang="en-US" altLang="en-GB" b="1" dirty="0">
              <a:solidFill>
                <a:schemeClr val="bg1"/>
              </a:solidFill>
              <a:sym typeface="+mn-ea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GB" b="1" dirty="0">
                <a:solidFill>
                  <a:schemeClr val="bg1"/>
                </a:solidFill>
                <a:sym typeface="+mn-ea"/>
              </a:rPr>
              <a:t>Build an explainable AI system so doctors can understand predictions clearly</a:t>
            </a:r>
            <a:endParaRPr lang="en-US" altLang="en-GB" b="1" dirty="0">
              <a:solidFill>
                <a:schemeClr val="bg1"/>
              </a:solidFill>
              <a:sym typeface="+mn-ea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GB" b="1" dirty="0">
                <a:solidFill>
                  <a:schemeClr val="bg1"/>
                </a:solidFill>
                <a:sym typeface="+mn-ea"/>
              </a:rPr>
              <a:t>Expand the model to predict related diseases like heart disease or hypertension</a:t>
            </a:r>
            <a:endParaRPr lang="en-US" altLang="en-GB" b="1" dirty="0">
              <a:solidFill>
                <a:schemeClr val="bg1"/>
              </a:solidFill>
              <a:sym typeface="+mn-ea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GB" b="1" dirty="0">
                <a:solidFill>
                  <a:schemeClr val="bg1"/>
                </a:solidFill>
                <a:sym typeface="+mn-ea"/>
              </a:rPr>
              <a:t>Connect the system with hospital tools so doctors can use it easily in real-life patient treatment and decision-making.</a:t>
            </a:r>
            <a:endParaRPr lang="en-US" altLang="en-GB" b="1" dirty="0">
              <a:solidFill>
                <a:schemeClr val="bg1"/>
              </a:solidFill>
              <a:sym typeface="+mn-ea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en-GB" b="1" dirty="0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91840" y="594360"/>
            <a:ext cx="2560320" cy="2560320"/>
          </a:xfrm>
          <a:prstGeom prst="ellipse">
            <a:avLst/>
          </a:prstGeom>
          <a:solidFill>
            <a:srgbClr val="0D2137"/>
          </a:solidFill>
          <a:ln w="38100">
            <a:solidFill>
              <a:srgbClr val="00897B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1024128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246120"/>
            <a:ext cx="8229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kern="0" spc="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457200" y="3977640"/>
            <a:ext cx="8229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your kind attention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286000" y="4389120"/>
            <a:ext cx="4572000" cy="36576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73.6,&quot;left&quot;:21.6,&quot;top&quot;:90,&quot;width&quot;:688.32}"/>
</p:tagLst>
</file>

<file path=ppt/tags/tag2.xml><?xml version="1.0" encoding="utf-8"?>
<p:tagLst xmlns:p="http://schemas.openxmlformats.org/presentationml/2006/main">
  <p:tag name="KSO_WM_DIAGRAM_VIRTUALLY_FRAME" val="{&quot;height&quot;:273.6,&quot;left&quot;:21.6,&quot;top&quot;:90,&quot;width&quot;:688.32}"/>
</p:tagLst>
</file>

<file path=ppt/tags/tag3.xml><?xml version="1.0" encoding="utf-8"?>
<p:tagLst xmlns:p="http://schemas.openxmlformats.org/presentationml/2006/main">
  <p:tag name="KSO_WM_DIAGRAM_VIRTUALLY_FRAME" val="{&quot;height&quot;:264.96000000000004,&quot;left&quot;:25.2,&quot;top&quot;:92.16,&quot;width&quot;:676.8}"/>
</p:tagLst>
</file>

<file path=ppt/tags/tag4.xml><?xml version="1.0" encoding="utf-8"?>
<p:tagLst xmlns:p="http://schemas.openxmlformats.org/presentationml/2006/main">
  <p:tag name="KSO_WM_DIAGRAM_VIRTUALLY_FRAME" val="{&quot;height&quot;:264.96000000000004,&quot;left&quot;:25.2,&quot;top&quot;:92.16,&quot;width&quot;:676.8}"/>
</p:tagLst>
</file>

<file path=ppt/tags/tag5.xml><?xml version="1.0" encoding="utf-8"?>
<p:tagLst xmlns:p="http://schemas.openxmlformats.org/presentationml/2006/main">
  <p:tag name="KSO_WM_DIAGRAM_VIRTUALLY_FRAME" val="{&quot;height&quot;:264.96000000000004,&quot;left&quot;:25.2,&quot;top&quot;:92.16,&quot;width&quot;:676.8}"/>
</p:tagLst>
</file>

<file path=ppt/tags/tag6.xml><?xml version="1.0" encoding="utf-8"?>
<p:tagLst xmlns:p="http://schemas.openxmlformats.org/presentationml/2006/main">
  <p:tag name="KSO_WM_DIAGRAM_VIRTUALLY_FRAME" val="{&quot;height&quot;:264.96000000000004,&quot;left&quot;:25.2,&quot;top&quot;:92.16,&quot;width&quot;:676.8}"/>
</p:tagLst>
</file>

<file path=ppt/tags/tag7.xml><?xml version="1.0" encoding="utf-8"?>
<p:tagLst xmlns:p="http://schemas.openxmlformats.org/presentationml/2006/main">
  <p:tag name="KSO_WM_DIAGRAM_VIRTUALLY_FRAME" val="{&quot;height&quot;:264.96000000000004,&quot;left&quot;:25.2,&quot;top&quot;:92.16,&quot;width&quot;:676.8}"/>
</p:tagLst>
</file>

<file path=ppt/tags/tag8.xml><?xml version="1.0" encoding="utf-8"?>
<p:tagLst xmlns:p="http://schemas.openxmlformats.org/presentationml/2006/main">
  <p:tag name="KSO_WM_DIAGRAM_VIRTUALLY_FRAME" val="{&quot;height&quot;:264.96000000000004,&quot;left&quot;:25.2,&quot;top&quot;:92.16,&quot;width&quot;:676.8}"/>
</p:tagLst>
</file>

<file path=ppt/tags/tag9.xml><?xml version="1.0" encoding="utf-8"?>
<p:tagLst xmlns:p="http://schemas.openxmlformats.org/presentationml/2006/main">
  <p:tag name="KSO_WM_DIAGRAM_VIRTUALLY_FRAME" val="{&quot;height&quot;:264.96000000000004,&quot;left&quot;:25.2,&quot;top&quot;:92.16,&quot;width&quot;:676.8}"/>
</p:tagLst>
</file>

<file path=ppt/tags/tag10.xml><?xml version="1.0" encoding="utf-8"?>
<p:tagLst xmlns:p="http://schemas.openxmlformats.org/presentationml/2006/main">
  <p:tag name="KSO_WM_DIAGRAM_VIRTUALLY_FRAME" val="{&quot;height&quot;:264.96000000000004,&quot;left&quot;:25.2,&quot;top&quot;:92.16,&quot;width&quot;:676.8}"/>
</p:tagLst>
</file>

<file path=ppt/tags/tag11.xml><?xml version="1.0" encoding="utf-8"?>
<p:tagLst xmlns:p="http://schemas.openxmlformats.org/presentationml/2006/main">
  <p:tag name="KSO_WM_DIAGRAM_VIRTUALLY_FRAME" val="{&quot;height&quot;:264.96000000000004,&quot;left&quot;:25.2,&quot;top&quot;:92.16,&quot;width&quot;:676.8}"/>
</p:tagLst>
</file>

<file path=ppt/tags/tag12.xml><?xml version="1.0" encoding="utf-8"?>
<p:tagLst xmlns:p="http://schemas.openxmlformats.org/presentationml/2006/main">
  <p:tag name="KSO_WM_DIAGRAM_VIRTUALLY_FRAME" val="{&quot;height&quot;:264.96000000000004,&quot;left&quot;:25.2,&quot;top&quot;:92.16,&quot;width&quot;:676.8}"/>
</p:tagLst>
</file>

<file path=ppt/tags/tag13.xml><?xml version="1.0" encoding="utf-8"?>
<p:tagLst xmlns:p="http://schemas.openxmlformats.org/presentationml/2006/main">
  <p:tag name="KSO_WM_DIAGRAM_VIRTUALLY_FRAME" val="{&quot;height&quot;:264.96000000000004,&quot;left&quot;:25.2,&quot;top&quot;:92.16,&quot;width&quot;:676.8}"/>
</p:tagLst>
</file>

<file path=ppt/tags/tag14.xml><?xml version="1.0" encoding="utf-8"?>
<p:tagLst xmlns:p="http://schemas.openxmlformats.org/presentationml/2006/main">
  <p:tag name="KSO_WM_DIAGRAM_VIRTUALLY_FRAME" val="{&quot;height&quot;:264.96000000000004,&quot;left&quot;:25.2,&quot;top&quot;:92.16,&quot;width&quot;:676.8}"/>
</p:tagLst>
</file>

<file path=ppt/tags/tag15.xml><?xml version="1.0" encoding="utf-8"?>
<p:tagLst xmlns:p="http://schemas.openxmlformats.org/presentationml/2006/main">
  <p:tag name="KSO_WM_DIAGRAM_VIRTUALLY_FRAME" val="{&quot;height&quot;:264.96000000000004,&quot;left&quot;:25.2,&quot;top&quot;:92.16,&quot;width&quot;:676.8}"/>
</p:tagLst>
</file>

<file path=ppt/tags/tag16.xml><?xml version="1.0" encoding="utf-8"?>
<p:tagLst xmlns:p="http://schemas.openxmlformats.org/presentationml/2006/main">
  <p:tag name="KSO_WM_DIAGRAM_VIRTUALLY_FRAME" val="{&quot;height&quot;:264.96000000000004,&quot;left&quot;:25.2,&quot;top&quot;:92.16,&quot;width&quot;:676.8}"/>
</p:tagLst>
</file>

<file path=ppt/tags/tag17.xml><?xml version="1.0" encoding="utf-8"?>
<p:tagLst xmlns:p="http://schemas.openxmlformats.org/presentationml/2006/main">
  <p:tag name="KSO_WM_DIAGRAM_VIRTUALLY_FRAME" val="{&quot;height&quot;:264.96000000000004,&quot;left&quot;:25.2,&quot;top&quot;:92.16,&quot;width&quot;:676.8}"/>
</p:tagLst>
</file>

<file path=ppt/tags/tag18.xml><?xml version="1.0" encoding="utf-8"?>
<p:tagLst xmlns:p="http://schemas.openxmlformats.org/presentationml/2006/main">
  <p:tag name="KSO_WM_DIAGRAM_VIRTUALLY_FRAME" val="{&quot;height&quot;:264.96000000000004,&quot;left&quot;:25.2,&quot;top&quot;:92.16,&quot;width&quot;:676.8}"/>
</p:tagLst>
</file>

<file path=ppt/tags/tag19.xml><?xml version="1.0" encoding="utf-8"?>
<p:tagLst xmlns:p="http://schemas.openxmlformats.org/presentationml/2006/main">
  <p:tag name="KSO_WM_DIAGRAM_VIRTUALLY_FRAME" val="{&quot;height&quot;:264.96000000000004,&quot;left&quot;:25.2,&quot;top&quot;:92.16,&quot;width&quot;:676.8}"/>
</p:tagLst>
</file>

<file path=ppt/tags/tag20.xml><?xml version="1.0" encoding="utf-8"?>
<p:tagLst xmlns:p="http://schemas.openxmlformats.org/presentationml/2006/main">
  <p:tag name="KSO_WM_DIAGRAM_VIRTUALLY_FRAME" val="{&quot;height&quot;:264.96000000000004,&quot;left&quot;:25.2,&quot;top&quot;:92.16,&quot;width&quot;:676.8}"/>
</p:tagLst>
</file>

<file path=ppt/tags/tag21.xml><?xml version="1.0" encoding="utf-8"?>
<p:tagLst xmlns:p="http://schemas.openxmlformats.org/presentationml/2006/main">
  <p:tag name="KSO_WM_DIAGRAM_VIRTUALLY_FRAME" val="{&quot;height&quot;:264.96000000000004,&quot;left&quot;:25.2,&quot;top&quot;:92.16,&quot;width&quot;:676.8}"/>
</p:tagLst>
</file>

<file path=ppt/tags/tag22.xml><?xml version="1.0" encoding="utf-8"?>
<p:tagLst xmlns:p="http://schemas.openxmlformats.org/presentationml/2006/main">
  <p:tag name="KSO_WM_DIAGRAM_VIRTUALLY_FRAME" val="{&quot;height&quot;:264.96000000000004,&quot;left&quot;:25.2,&quot;top&quot;:92.16,&quot;width&quot;:676.8}"/>
</p:tagLst>
</file>

<file path=ppt/tags/tag23.xml><?xml version="1.0" encoding="utf-8"?>
<p:tagLst xmlns:p="http://schemas.openxmlformats.org/presentationml/2006/main">
  <p:tag name="KSO_WM_DIAGRAM_VIRTUALLY_FRAME" val="{&quot;height&quot;:264.96000000000004,&quot;left&quot;:25.2,&quot;top&quot;:92.16,&quot;width&quot;:676.8}"/>
</p:tagLst>
</file>

<file path=ppt/tags/tag24.xml><?xml version="1.0" encoding="utf-8"?>
<p:tagLst xmlns:p="http://schemas.openxmlformats.org/presentationml/2006/main">
  <p:tag name="KSO_WM_DIAGRAM_VIRTUALLY_FRAME" val="{&quot;height&quot;:264.96000000000004,&quot;left&quot;:25.2,&quot;top&quot;:92.16,&quot;width&quot;:676.8}"/>
</p:tagLst>
</file>

<file path=ppt/tags/tag25.xml><?xml version="1.0" encoding="utf-8"?>
<p:tagLst xmlns:p="http://schemas.openxmlformats.org/presentationml/2006/main">
  <p:tag name="KSO_WM_DIAGRAM_VIRTUALLY_FRAME" val="{&quot;height&quot;:264.96000000000004,&quot;left&quot;:25.2,&quot;top&quot;:92.16,&quot;width&quot;:676.8}"/>
</p:tagLst>
</file>

<file path=ppt/tags/tag26.xml><?xml version="1.0" encoding="utf-8"?>
<p:tagLst xmlns:p="http://schemas.openxmlformats.org/presentationml/2006/main">
  <p:tag name="KSO_WM_DIAGRAM_VIRTUALLY_FRAME" val="{&quot;height&quot;:264.96000000000004,&quot;left&quot;:25.2,&quot;top&quot;:92.16,&quot;width&quot;:676.8}"/>
</p:tagLst>
</file>

<file path=ppt/tags/tag27.xml><?xml version="1.0" encoding="utf-8"?>
<p:tagLst xmlns:p="http://schemas.openxmlformats.org/presentationml/2006/main">
  <p:tag name="KSO_WM_DIAGRAM_VIRTUALLY_FRAME" val="{&quot;height&quot;:295.2,&quot;left&quot;:21.6,&quot;top&quot;:90,&quot;width&quot;:676.8}"/>
</p:tagLst>
</file>

<file path=ppt/tags/tag28.xml><?xml version="1.0" encoding="utf-8"?>
<p:tagLst xmlns:p="http://schemas.openxmlformats.org/presentationml/2006/main">
  <p:tag name="KSO_WM_DIAGRAM_VIRTUALLY_FRAME" val="{&quot;height&quot;:295.2,&quot;left&quot;:21.6,&quot;top&quot;:90,&quot;width&quot;:676.8}"/>
</p:tagLst>
</file>

<file path=ppt/tags/tag29.xml><?xml version="1.0" encoding="utf-8"?>
<p:tagLst xmlns:p="http://schemas.openxmlformats.org/presentationml/2006/main">
  <p:tag name="KSO_WM_DIAGRAM_VIRTUALLY_FRAME" val="{&quot;height&quot;:295.2,&quot;left&quot;:21.6,&quot;top&quot;:90,&quot;width&quot;:676.8}"/>
</p:tagLst>
</file>

<file path=ppt/tags/tag30.xml><?xml version="1.0" encoding="utf-8"?>
<p:tagLst xmlns:p="http://schemas.openxmlformats.org/presentationml/2006/main">
  <p:tag name="KSO_WM_DIAGRAM_VIRTUALLY_FRAME" val="{&quot;height&quot;:295.2,&quot;left&quot;:21.6,&quot;top&quot;:90,&quot;width&quot;:676.8}"/>
</p:tagLst>
</file>

<file path=ppt/tags/tag31.xml><?xml version="1.0" encoding="utf-8"?>
<p:tagLst xmlns:p="http://schemas.openxmlformats.org/presentationml/2006/main">
  <p:tag name="KSO_WM_DIAGRAM_VIRTUALLY_FRAME" val="{&quot;height&quot;:295.2,&quot;left&quot;:21.6,&quot;top&quot;:90,&quot;width&quot;:676.8}"/>
</p:tagLst>
</file>

<file path=ppt/tags/tag32.xml><?xml version="1.0" encoding="utf-8"?>
<p:tagLst xmlns:p="http://schemas.openxmlformats.org/presentationml/2006/main">
  <p:tag name="KSO_WM_DIAGRAM_VIRTUALLY_FRAME" val="{&quot;height&quot;:295.2,&quot;left&quot;:21.6,&quot;top&quot;:90,&quot;width&quot;:676.8}"/>
</p:tagLst>
</file>

<file path=ppt/tags/tag33.xml><?xml version="1.0" encoding="utf-8"?>
<p:tagLst xmlns:p="http://schemas.openxmlformats.org/presentationml/2006/main">
  <p:tag name="KSO_WM_DIAGRAM_VIRTUALLY_FRAME" val="{&quot;height&quot;:295.2,&quot;left&quot;:21.6,&quot;top&quot;:90,&quot;width&quot;:676.8}"/>
</p:tagLst>
</file>

<file path=ppt/tags/tag34.xml><?xml version="1.0" encoding="utf-8"?>
<p:tagLst xmlns:p="http://schemas.openxmlformats.org/presentationml/2006/main">
  <p:tag name="KSO_WM_DIAGRAM_VIRTUALLY_FRAME" val="{&quot;height&quot;:295.2,&quot;left&quot;:21.6,&quot;top&quot;:90,&quot;width&quot;:676.8}"/>
</p:tagLst>
</file>

<file path=ppt/tags/tag35.xml><?xml version="1.0" encoding="utf-8"?>
<p:tagLst xmlns:p="http://schemas.openxmlformats.org/presentationml/2006/main">
  <p:tag name="KSO_WM_DIAGRAM_VIRTUALLY_FRAME" val="{&quot;height&quot;:295.2,&quot;left&quot;:21.6,&quot;top&quot;:90,&quot;width&quot;:676.8}"/>
</p:tagLst>
</file>

<file path=ppt/tags/tag36.xml><?xml version="1.0" encoding="utf-8"?>
<p:tagLst xmlns:p="http://schemas.openxmlformats.org/presentationml/2006/main">
  <p:tag name="KSO_WM_DIAGRAM_VIRTUALLY_FRAME" val="{&quot;height&quot;:295.2,&quot;left&quot;:21.6,&quot;top&quot;:90,&quot;width&quot;:676.8}"/>
</p:tagLst>
</file>

<file path=ppt/tags/tag37.xml><?xml version="1.0" encoding="utf-8"?>
<p:tagLst xmlns:p="http://schemas.openxmlformats.org/presentationml/2006/main">
  <p:tag name="KSO_WM_DIAGRAM_VIRTUALLY_FRAME" val="{&quot;height&quot;:295.2,&quot;left&quot;:21.6,&quot;top&quot;:90,&quot;width&quot;:676.8}"/>
</p:tagLst>
</file>

<file path=ppt/tags/tag38.xml><?xml version="1.0" encoding="utf-8"?>
<p:tagLst xmlns:p="http://schemas.openxmlformats.org/presentationml/2006/main">
  <p:tag name="KSO_WM_DIAGRAM_VIRTUALLY_FRAME" val="{&quot;height&quot;:295.2,&quot;left&quot;:21.6,&quot;top&quot;:90,&quot;width&quot;:676.8}"/>
</p:tagLst>
</file>

<file path=ppt/tags/tag39.xml><?xml version="1.0" encoding="utf-8"?>
<p:tagLst xmlns:p="http://schemas.openxmlformats.org/presentationml/2006/main">
  <p:tag name="KSO_WM_DIAGRAM_VIRTUALLY_FRAME" val="{&quot;height&quot;:295.2,&quot;left&quot;:21.6,&quot;top&quot;:90,&quot;width&quot;:676.8}"/>
</p:tagLst>
</file>

<file path=ppt/tags/tag40.xml><?xml version="1.0" encoding="utf-8"?>
<p:tagLst xmlns:p="http://schemas.openxmlformats.org/presentationml/2006/main">
  <p:tag name="KSO_WM_DIAGRAM_VIRTUALLY_FRAME" val="{&quot;height&quot;:295.2,&quot;left&quot;:21.6,&quot;top&quot;:90,&quot;width&quot;:676.8}"/>
</p:tagLst>
</file>

<file path=ppt/tags/tag41.xml><?xml version="1.0" encoding="utf-8"?>
<p:tagLst xmlns:p="http://schemas.openxmlformats.org/presentationml/2006/main">
  <p:tag name="KSO_WM_DIAGRAM_VIRTUALLY_FRAME" val="{&quot;height&quot;:295.2,&quot;left&quot;:21.6,&quot;top&quot;:90,&quot;width&quot;:676.8}"/>
</p:tagLst>
</file>

<file path=ppt/tags/tag42.xml><?xml version="1.0" encoding="utf-8"?>
<p:tagLst xmlns:p="http://schemas.openxmlformats.org/presentationml/2006/main">
  <p:tag name="KSO_WM_DIAGRAM_VIRTUALLY_FRAME" val="{&quot;height&quot;:295.2,&quot;left&quot;:21.6,&quot;top&quot;:90,&quot;width&quot;:676.8}"/>
</p:tagLst>
</file>

<file path=ppt/tags/tag43.xml><?xml version="1.0" encoding="utf-8"?>
<p:tagLst xmlns:p="http://schemas.openxmlformats.org/presentationml/2006/main">
  <p:tag name="KSO_WM_DIAGRAM_VIRTUALLY_FRAME" val="{&quot;height&quot;:295.2,&quot;left&quot;:21.6,&quot;top&quot;:90,&quot;width&quot;:676.8}"/>
</p:tagLst>
</file>

<file path=ppt/tags/tag44.xml><?xml version="1.0" encoding="utf-8"?>
<p:tagLst xmlns:p="http://schemas.openxmlformats.org/presentationml/2006/main">
  <p:tag name="KSO_WM_DIAGRAM_VIRTUALLY_FRAME" val="{&quot;height&quot;:295.2,&quot;left&quot;:21.6,&quot;top&quot;:90,&quot;width&quot;:676.8}"/>
</p:tagLst>
</file>

<file path=ppt/tags/tag45.xml><?xml version="1.0" encoding="utf-8"?>
<p:tagLst xmlns:p="http://schemas.openxmlformats.org/presentationml/2006/main">
  <p:tag name="KSO_WM_DIAGRAM_VIRTUALLY_FRAME" val="{&quot;height&quot;:295.2,&quot;left&quot;:21.6,&quot;top&quot;:90,&quot;width&quot;:676.8}"/>
</p:tagLst>
</file>

<file path=ppt/tags/tag46.xml><?xml version="1.0" encoding="utf-8"?>
<p:tagLst xmlns:p="http://schemas.openxmlformats.org/presentationml/2006/main">
  <p:tag name="KSO_WM_DIAGRAM_VIRTUALLY_FRAME" val="{&quot;height&quot;:295.2,&quot;left&quot;:21.6,&quot;top&quot;:90,&quot;width&quot;:676.8}"/>
</p:tagLst>
</file>

<file path=ppt/tags/tag47.xml><?xml version="1.0" encoding="utf-8"?>
<p:tagLst xmlns:p="http://schemas.openxmlformats.org/presentationml/2006/main">
  <p:tag name="KSO_WM_DIAGRAM_VIRTUALLY_FRAME" val="{&quot;height&quot;:295.2,&quot;left&quot;:21.6,&quot;top&quot;:90,&quot;width&quot;:676.8}"/>
</p:tagLst>
</file>

<file path=ppt/tags/tag48.xml><?xml version="1.0" encoding="utf-8"?>
<p:tagLst xmlns:p="http://schemas.openxmlformats.org/presentationml/2006/main">
  <p:tag name="KSO_WM_DIAGRAM_VIRTUALLY_FRAME" val="{&quot;height&quot;:295.2,&quot;left&quot;:21.6,&quot;top&quot;:90,&quot;width&quot;:676.8}"/>
</p:tagLst>
</file>

<file path=ppt/tags/tag49.xml><?xml version="1.0" encoding="utf-8"?>
<p:tagLst xmlns:p="http://schemas.openxmlformats.org/presentationml/2006/main">
  <p:tag name="KSO_WM_DIAGRAM_VIRTUALLY_FRAME" val="{&quot;height&quot;:295.2,&quot;left&quot;:21.6,&quot;top&quot;:90,&quot;width&quot;:676.8}"/>
</p:tagLst>
</file>

<file path=ppt/tags/tag50.xml><?xml version="1.0" encoding="utf-8"?>
<p:tagLst xmlns:p="http://schemas.openxmlformats.org/presentationml/2006/main">
  <p:tag name="KSO_WM_DIAGRAM_VIRTUALLY_FRAME" val="{&quot;height&quot;:295.2,&quot;left&quot;:21.6,&quot;top&quot;:90,&quot;width&quot;:676.8}"/>
</p:tagLst>
</file>

<file path=ppt/tags/tag51.xml><?xml version="1.0" encoding="utf-8"?>
<p:tagLst xmlns:p="http://schemas.openxmlformats.org/presentationml/2006/main">
  <p:tag name="KSO_WM_DIAGRAM_VIRTUALLY_FRAME" val="{&quot;height&quot;:295.2,&quot;left&quot;:21.6,&quot;top&quot;:90,&quot;width&quot;:676.8}"/>
</p:tagLst>
</file>

<file path=ppt/tags/tag52.xml><?xml version="1.0" encoding="utf-8"?>
<p:tagLst xmlns:p="http://schemas.openxmlformats.org/presentationml/2006/main">
  <p:tag name="KSO_WM_DIAGRAM_VIRTUALLY_FRAME" val="{&quot;height&quot;:295.2,&quot;left&quot;:21.6,&quot;top&quot;:90,&quot;width&quot;:676.8}"/>
</p:tagLst>
</file>

<file path=ppt/tags/tag53.xml><?xml version="1.0" encoding="utf-8"?>
<p:tagLst xmlns:p="http://schemas.openxmlformats.org/presentationml/2006/main">
  <p:tag name="KSO_WM_DIAGRAM_VIRTUALLY_FRAME" val="{&quot;height&quot;:295.2,&quot;left&quot;:21.6,&quot;top&quot;:90,&quot;width&quot;:676.8}"/>
</p:tagLst>
</file>

<file path=ppt/tags/tag54.xml><?xml version="1.0" encoding="utf-8"?>
<p:tagLst xmlns:p="http://schemas.openxmlformats.org/presentationml/2006/main">
  <p:tag name="KSO_WM_DIAGRAM_VIRTUALLY_FRAME" val="{&quot;height&quot;:295.2,&quot;left&quot;:21.6,&quot;top&quot;:90,&quot;width&quot;:676.8}"/>
</p:tagLst>
</file>

<file path=ppt/tags/tag55.xml><?xml version="1.0" encoding="utf-8"?>
<p:tagLst xmlns:p="http://schemas.openxmlformats.org/presentationml/2006/main">
  <p:tag name="KSO_WM_DIAGRAM_VIRTUALLY_FRAME" val="{&quot;height&quot;:295.2,&quot;left&quot;:21.6,&quot;top&quot;:90,&quot;width&quot;:676.8}"/>
</p:tagLst>
</file>

<file path=ppt/tags/tag56.xml><?xml version="1.0" encoding="utf-8"?>
<p:tagLst xmlns:p="http://schemas.openxmlformats.org/presentationml/2006/main">
  <p:tag name="KSO_WM_DIAGRAM_VIRTUALLY_FRAME" val="{&quot;height&quot;:295.2,&quot;left&quot;:21.6,&quot;top&quot;:90,&quot;width&quot;:676.8}"/>
</p:tagLst>
</file>

<file path=ppt/tags/tag57.xml><?xml version="1.0" encoding="utf-8"?>
<p:tagLst xmlns:p="http://schemas.openxmlformats.org/presentationml/2006/main">
  <p:tag name="KSO_WM_DIAGRAM_VIRTUALLY_FRAME" val="{&quot;height&quot;:295.2,&quot;left&quot;:21.6,&quot;top&quot;:90,&quot;width&quot;:676.8}"/>
</p:tagLst>
</file>

<file path=ppt/tags/tag58.xml><?xml version="1.0" encoding="utf-8"?>
<p:tagLst xmlns:p="http://schemas.openxmlformats.org/presentationml/2006/main">
  <p:tag name="KSO_WM_DIAGRAM_VIRTUALLY_FRAME" val="{&quot;height&quot;:295.2,&quot;left&quot;:21.6,&quot;top&quot;:90,&quot;width&quot;:676.8}"/>
</p:tagLst>
</file>

<file path=ppt/tags/tag59.xml><?xml version="1.0" encoding="utf-8"?>
<p:tagLst xmlns:p="http://schemas.openxmlformats.org/presentationml/2006/main">
  <p:tag name="KSO_WM_DIAGRAM_VIRTUALLY_FRAME" val="{&quot;height&quot;:295.2,&quot;left&quot;:21.6,&quot;top&quot;:90,&quot;width&quot;:676.8}"/>
</p:tagLst>
</file>

<file path=ppt/tags/tag60.xml><?xml version="1.0" encoding="utf-8"?>
<p:tagLst xmlns:p="http://schemas.openxmlformats.org/presentationml/2006/main">
  <p:tag name="KSO_WM_DIAGRAM_VIRTUALLY_FRAME" val="{&quot;height&quot;:295.2,&quot;left&quot;:21.6,&quot;top&quot;:90,&quot;width&quot;:676.8}"/>
</p:tagLst>
</file>

<file path=ppt/tags/tag61.xml><?xml version="1.0" encoding="utf-8"?>
<p:tagLst xmlns:p="http://schemas.openxmlformats.org/presentationml/2006/main">
  <p:tag name="KSO_WM_DIAGRAM_VIRTUALLY_FRAME" val="{&quot;height&quot;:295.2,&quot;left&quot;:21.6,&quot;top&quot;:90,&quot;width&quot;:676.8}"/>
</p:tagLst>
</file>

<file path=ppt/tags/tag62.xml><?xml version="1.0" encoding="utf-8"?>
<p:tagLst xmlns:p="http://schemas.openxmlformats.org/presentationml/2006/main">
  <p:tag name="KSO_WM_DIAGRAM_VIRTUALLY_FRAME" val="{&quot;height&quot;:295.2,&quot;left&quot;:21.6,&quot;top&quot;:90,&quot;width&quot;:676.8}"/>
</p:tagLst>
</file>

<file path=ppt/tags/tag63.xml><?xml version="1.0" encoding="utf-8"?>
<p:tagLst xmlns:p="http://schemas.openxmlformats.org/presentationml/2006/main">
  <p:tag name="KSO_WM_DIAGRAM_VIRTUALLY_FRAME" val="{&quot;height&quot;:295.2,&quot;left&quot;:21.6,&quot;top&quot;:90,&quot;width&quot;:676.8}"/>
</p:tagLst>
</file>

<file path=ppt/tags/tag64.xml><?xml version="1.0" encoding="utf-8"?>
<p:tagLst xmlns:p="http://schemas.openxmlformats.org/presentationml/2006/main">
  <p:tag name="KSO_WM_DIAGRAM_VIRTUALLY_FRAME" val="{&quot;height&quot;:295.2,&quot;left&quot;:21.6,&quot;top&quot;:90,&quot;width&quot;:676.8}"/>
</p:tagLst>
</file>

<file path=ppt/tags/tag65.xml><?xml version="1.0" encoding="utf-8"?>
<p:tagLst xmlns:p="http://schemas.openxmlformats.org/presentationml/2006/main">
  <p:tag name="KSO_WM_DIAGRAM_VIRTUALLY_FRAME" val="{&quot;height&quot;:295.2,&quot;left&quot;:21.6,&quot;top&quot;:90,&quot;width&quot;:676.8}"/>
</p:tagLst>
</file>

<file path=ppt/tags/tag66.xml><?xml version="1.0" encoding="utf-8"?>
<p:tagLst xmlns:p="http://schemas.openxmlformats.org/presentationml/2006/main">
  <p:tag name="KSO_WM_DIAGRAM_VIRTUALLY_FRAME" val="{&quot;height&quot;:295.2,&quot;left&quot;:21.6,&quot;top&quot;:90,&quot;width&quot;:676.8}"/>
</p:tagLst>
</file>

<file path=ppt/tags/tag67.xml><?xml version="1.0" encoding="utf-8"?>
<p:tagLst xmlns:p="http://schemas.openxmlformats.org/presentationml/2006/main">
  <p:tag name="KSO_WM_DIAGRAM_VIRTUALLY_FRAME" val="{&quot;height&quot;:295.2,&quot;left&quot;:21.6,&quot;top&quot;:90,&quot;width&quot;:676.8}"/>
</p:tagLst>
</file>

<file path=ppt/tags/tag68.xml><?xml version="1.0" encoding="utf-8"?>
<p:tagLst xmlns:p="http://schemas.openxmlformats.org/presentationml/2006/main">
  <p:tag name="KSO_WM_DIAGRAM_VIRTUALLY_FRAME" val="{&quot;height&quot;:295.2,&quot;left&quot;:21.6,&quot;top&quot;:90,&quot;width&quot;:676.8}"/>
</p:tagLst>
</file>

<file path=ppt/tags/tag69.xml><?xml version="1.0" encoding="utf-8"?>
<p:tagLst xmlns:p="http://schemas.openxmlformats.org/presentationml/2006/main">
  <p:tag name="KSO_WM_DIAGRAM_VIRTUALLY_FRAME" val="{&quot;height&quot;:295.2,&quot;left&quot;:21.6,&quot;top&quot;:90,&quot;width&quot;:676.8}"/>
</p:tagLst>
</file>

<file path=ppt/tags/tag70.xml><?xml version="1.0" encoding="utf-8"?>
<p:tagLst xmlns:p="http://schemas.openxmlformats.org/presentationml/2006/main">
  <p:tag name="KSO_WM_DIAGRAM_VIRTUALLY_FRAME" val="{&quot;height&quot;:295.2,&quot;left&quot;:21.6,&quot;top&quot;:90,&quot;width&quot;:676.8}"/>
</p:tagLst>
</file>

<file path=ppt/tags/tag71.xml><?xml version="1.0" encoding="utf-8"?>
<p:tagLst xmlns:p="http://schemas.openxmlformats.org/presentationml/2006/main">
  <p:tag name="KSO_WM_DIAGRAM_VIRTUALLY_FRAME" val="{&quot;height&quot;:295.2,&quot;left&quot;:21.6,&quot;top&quot;:90,&quot;width&quot;:676.8}"/>
</p:tagLst>
</file>

<file path=ppt/tags/tag72.xml><?xml version="1.0" encoding="utf-8"?>
<p:tagLst xmlns:p="http://schemas.openxmlformats.org/presentationml/2006/main">
  <p:tag name="KSO_WM_DIAGRAM_VIRTUALLY_FRAME" val="{&quot;height&quot;:295.2,&quot;left&quot;:21.6,&quot;top&quot;:90,&quot;width&quot;:676.8}"/>
</p:tagLst>
</file>

<file path=ppt/tags/tag73.xml><?xml version="1.0" encoding="utf-8"?>
<p:tagLst xmlns:p="http://schemas.openxmlformats.org/presentationml/2006/main">
  <p:tag name="KSO_WM_DIAGRAM_VIRTUALLY_FRAME" val="{&quot;height&quot;:295.2,&quot;left&quot;:21.6,&quot;top&quot;:90,&quot;width&quot;:676.8}"/>
</p:tagLst>
</file>

<file path=ppt/tags/tag74.xml><?xml version="1.0" encoding="utf-8"?>
<p:tagLst xmlns:p="http://schemas.openxmlformats.org/presentationml/2006/main">
  <p:tag name="KSO_WM_DIAGRAM_VIRTUALLY_FRAME" val="{&quot;height&quot;:295.2,&quot;left&quot;:21.6,&quot;top&quot;:90,&quot;width&quot;:676.8}"/>
</p:tagLst>
</file>

<file path=ppt/tags/tag75.xml><?xml version="1.0" encoding="utf-8"?>
<p:tagLst xmlns:p="http://schemas.openxmlformats.org/presentationml/2006/main">
  <p:tag name="KSO_WM_DIAGRAM_VIRTUALLY_FRAME" val="{&quot;height&quot;:117.35999999999999,&quot;left&quot;:75.6,&quot;top&quot;:93.6,&quot;width&quot;:619.2}"/>
</p:tagLst>
</file>

<file path=ppt/tags/tag76.xml><?xml version="1.0" encoding="utf-8"?>
<p:tagLst xmlns:p="http://schemas.openxmlformats.org/presentationml/2006/main">
  <p:tag name="KSO_WM_DIAGRAM_VIRTUALLY_FRAME" val="{&quot;height&quot;:117.35999999999999,&quot;left&quot;:75.6,&quot;top&quot;:93.6,&quot;width&quot;:619.2}"/>
</p:tagLst>
</file>

<file path=ppt/tags/tag77.xml><?xml version="1.0" encoding="utf-8"?>
<p:tagLst xmlns:p="http://schemas.openxmlformats.org/presentationml/2006/main">
  <p:tag name="KSO_WM_DIAGRAM_VIRTUALLY_FRAME" val="{&quot;height&quot;:117.35999999999999,&quot;left&quot;:75.6,&quot;top&quot;:93.6,&quot;width&quot;:619.2}"/>
</p:tagLst>
</file>

<file path=ppt/tags/tag78.xml><?xml version="1.0" encoding="utf-8"?>
<p:tagLst xmlns:p="http://schemas.openxmlformats.org/presentationml/2006/main">
  <p:tag name="KSO_WM_DIAGRAM_VIRTUALLY_FRAME" val="{&quot;height&quot;:117.35999999999999,&quot;left&quot;:75.6,&quot;top&quot;:93.6,&quot;width&quot;:619.2}"/>
</p:tagLst>
</file>

<file path=ppt/tags/tag79.xml><?xml version="1.0" encoding="utf-8"?>
<p:tagLst xmlns:p="http://schemas.openxmlformats.org/presentationml/2006/main">
  <p:tag name="KSO_WM_DIAGRAM_VIRTUALLY_FRAME" val="{&quot;height&quot;:117.35999999999999,&quot;left&quot;:75.6,&quot;top&quot;:93.6,&quot;width&quot;:619.2}"/>
</p:tagLst>
</file>

<file path=ppt/tags/tag80.xml><?xml version="1.0" encoding="utf-8"?>
<p:tagLst xmlns:p="http://schemas.openxmlformats.org/presentationml/2006/main">
  <p:tag name="KSO_WM_DIAGRAM_VIRTUALLY_FRAME" val="{&quot;height&quot;:117.35999999999999,&quot;left&quot;:75.6,&quot;top&quot;:93.6,&quot;width&quot;:619.2}"/>
</p:tagLst>
</file>

<file path=ppt/tags/tag81.xml><?xml version="1.0" encoding="utf-8"?>
<p:tagLst xmlns:p="http://schemas.openxmlformats.org/presentationml/2006/main">
  <p:tag name="KSO_WM_DIAGRAM_VIRTUALLY_FRAME" val="{&quot;height&quot;:117.35999999999999,&quot;left&quot;:75.6,&quot;top&quot;:93.6,&quot;width&quot;:619.2}"/>
</p:tagLst>
</file>

<file path=ppt/tags/tag82.xml><?xml version="1.0" encoding="utf-8"?>
<p:tagLst xmlns:p="http://schemas.openxmlformats.org/presentationml/2006/main">
  <p:tag name="KSO_WM_DIAGRAM_VIRTUALLY_FRAME" val="{&quot;height&quot;:117.35999999999999,&quot;left&quot;:75.6,&quot;top&quot;:93.6,&quot;width&quot;:619.2}"/>
</p:tagLst>
</file>

<file path=ppt/tags/tag83.xml><?xml version="1.0" encoding="utf-8"?>
<p:tagLst xmlns:p="http://schemas.openxmlformats.org/presentationml/2006/main">
  <p:tag name="KSO_WM_DIAGRAM_VIRTUALLY_FRAME" val="{&quot;height&quot;:117.35999999999999,&quot;left&quot;:75.6,&quot;top&quot;:93.6,&quot;width&quot;:619.2}"/>
</p:tagLst>
</file>

<file path=ppt/tags/tag84.xml><?xml version="1.0" encoding="utf-8"?>
<p:tagLst xmlns:p="http://schemas.openxmlformats.org/presentationml/2006/main">
  <p:tag name="KSO_WM_DIAGRAM_VIRTUALLY_FRAME" val="{&quot;height&quot;:117.35999999999999,&quot;left&quot;:75.6,&quot;top&quot;:93.6,&quot;width&quot;:619.2}"/>
</p:tagLst>
</file>

<file path=ppt/tags/tag85.xml><?xml version="1.0" encoding="utf-8"?>
<p:tagLst xmlns:p="http://schemas.openxmlformats.org/presentationml/2006/main">
  <p:tag name="KSO_WM_DIAGRAM_VIRTUALLY_FRAME" val="{&quot;height&quot;:117.35999999999999,&quot;left&quot;:75.6,&quot;top&quot;:93.6,&quot;width&quot;:619.2}"/>
</p:tagLst>
</file>

<file path=ppt/tags/tag86.xml><?xml version="1.0" encoding="utf-8"?>
<p:tagLst xmlns:p="http://schemas.openxmlformats.org/presentationml/2006/main">
  <p:tag name="KSO_WM_DIAGRAM_VIRTUALLY_FRAME" val="{&quot;height&quot;:117.35999999999999,&quot;left&quot;:75.6,&quot;top&quot;:93.6,&quot;width&quot;:619.2}"/>
</p:tagLst>
</file>

<file path=ppt/tags/tag87.xml><?xml version="1.0" encoding="utf-8"?>
<p:tagLst xmlns:p="http://schemas.openxmlformats.org/presentationml/2006/main">
  <p:tag name="KSO_WM_DIAGRAM_VIRTUALLY_FRAME" val="{&quot;height&quot;:117.35999999999999,&quot;left&quot;:75.6,&quot;top&quot;:93.6,&quot;width&quot;:619.2}"/>
</p:tagLst>
</file>

<file path=ppt/tags/tag88.xml><?xml version="1.0" encoding="utf-8"?>
<p:tagLst xmlns:p="http://schemas.openxmlformats.org/presentationml/2006/main">
  <p:tag name="KSO_WM_DIAGRAM_VIRTUALLY_FRAME" val="{&quot;height&quot;:117.35999999999999,&quot;left&quot;:75.6,&quot;top&quot;:93.6,&quot;width&quot;:619.2}"/>
</p:tagLst>
</file>

<file path=ppt/tags/tag89.xml><?xml version="1.0" encoding="utf-8"?>
<p:tagLst xmlns:p="http://schemas.openxmlformats.org/presentationml/2006/main">
  <p:tag name="KSO_WM_DIAGRAM_VIRTUALLY_FRAME" val="{&quot;height&quot;:117.35999999999999,&quot;left&quot;:75.6,&quot;top&quot;:93.6,&quot;width&quot;:619.2}"/>
</p:tagLst>
</file>

<file path=ppt/tags/tag90.xml><?xml version="1.0" encoding="utf-8"?>
<p:tagLst xmlns:p="http://schemas.openxmlformats.org/presentationml/2006/main">
  <p:tag name="KSO_WM_DIAGRAM_VIRTUALLY_FRAME" val="{&quot;height&quot;:117.35999999999999,&quot;left&quot;:75.6,&quot;top&quot;:93.6,&quot;width&quot;:619.2}"/>
</p:tagLst>
</file>

<file path=ppt/tags/tag91.xml><?xml version="1.0" encoding="utf-8"?>
<p:tagLst xmlns:p="http://schemas.openxmlformats.org/presentationml/2006/main">
  <p:tag name="KSO_WM_DIAGRAM_VIRTUALLY_FRAME" val="{&quot;height&quot;:117.35999999999999,&quot;left&quot;:75.6,&quot;top&quot;:93.6,&quot;width&quot;:619.2}"/>
</p:tagLst>
</file>

<file path=ppt/tags/tag92.xml><?xml version="1.0" encoding="utf-8"?>
<p:tagLst xmlns:p="http://schemas.openxmlformats.org/presentationml/2006/main">
  <p:tag name="KSO_WM_DIAGRAM_VIRTUALLY_FRAME" val="{&quot;height&quot;:117.35999999999999,&quot;left&quot;:75.6,&quot;top&quot;:93.6,&quot;width&quot;:619.2}"/>
</p:tagLst>
</file>

<file path=ppt/tags/tag93.xml><?xml version="1.0" encoding="utf-8"?>
<p:tagLst xmlns:p="http://schemas.openxmlformats.org/presentationml/2006/main">
  <p:tag name="KSO_WM_DIAGRAM_VIRTUALLY_FRAME" val="{&quot;height&quot;:117.35999999999999,&quot;left&quot;:75.6,&quot;top&quot;:93.6,&quot;width&quot;:619.2}"/>
</p:tagLst>
</file>

<file path=ppt/tags/tag94.xml><?xml version="1.0" encoding="utf-8"?>
<p:tagLst xmlns:p="http://schemas.openxmlformats.org/presentationml/2006/main">
  <p:tag name="KSO_WM_DIAGRAM_VIRTUALLY_FRAME" val="{&quot;height&quot;:117.35999999999999,&quot;left&quot;:75.6,&quot;top&quot;:93.6,&quot;width&quot;:619.2}"/>
</p:tagLst>
</file>

<file path=ppt/tags/tag95.xml><?xml version="1.0" encoding="utf-8"?>
<p:tagLst xmlns:p="http://schemas.openxmlformats.org/presentationml/2006/main">
  <p:tag name="KSO_WM_DIAGRAM_VIRTUALLY_FRAME" val="{&quot;height&quot;:117.35999999999999,&quot;left&quot;:75.6,&quot;top&quot;:93.6,&quot;width&quot;:619.2}"/>
</p:tagLst>
</file>

<file path=ppt/tags/tag96.xml><?xml version="1.0" encoding="utf-8"?>
<p:tagLst xmlns:p="http://schemas.openxmlformats.org/presentationml/2006/main">
  <p:tag name="KSO_WM_DIAGRAM_VIRTUALLY_FRAME" val="{&quot;height&quot;:117.35999999999999,&quot;left&quot;:75.6,&quot;top&quot;:93.6,&quot;width&quot;:619.2}"/>
</p:tagLst>
</file>

<file path=ppt/tags/tag97.xml><?xml version="1.0" encoding="utf-8"?>
<p:tagLst xmlns:p="http://schemas.openxmlformats.org/presentationml/2006/main">
  <p:tag name="KSO_WM_DIAGRAM_VIRTUALLY_FRAME" val="{&quot;height&quot;:117.35999999999999,&quot;left&quot;:75.6,&quot;top&quot;:93.6,&quot;width&quot;:619.2}"/>
</p:tagLst>
</file>

<file path=ppt/tags/tag98.xml><?xml version="1.0" encoding="utf-8"?>
<p:tagLst xmlns:p="http://schemas.openxmlformats.org/presentationml/2006/main">
  <p:tag name="KSO_WM_DIAGRAM_VIRTUALLY_FRAME" val="{&quot;height&quot;:117.35999999999999,&quot;left&quot;:75.6,&quot;top&quot;:93.6,&quot;width&quot;:619.2}"/>
</p:tagLst>
</file>

<file path=ppt/tags/tag99.xml><?xml version="1.0" encoding="utf-8"?>
<p:tagLst xmlns:p="http://schemas.openxmlformats.org/presentationml/2006/main">
  <p:tag name="KSO_WM_DIAGRAM_VIRTUALLY_FRAME" val="{&quot;height&quot;:117.35999999999999,&quot;left&quot;:75.6,&quot;top&quot;:93.6,&quot;width&quot;:619.2}"/>
</p:tagLst>
</file>

<file path=ppt/tags/tag100.xml><?xml version="1.0" encoding="utf-8"?>
<p:tagLst xmlns:p="http://schemas.openxmlformats.org/presentationml/2006/main">
  <p:tag name="KSO_WM_DIAGRAM_VIRTUALLY_FRAME" val="{&quot;height&quot;:117.35999999999999,&quot;left&quot;:75.6,&quot;top&quot;:93.6,&quot;width&quot;:619.2}"/>
</p:tagLst>
</file>

<file path=ppt/tags/tag101.xml><?xml version="1.0" encoding="utf-8"?>
<p:tagLst xmlns:p="http://schemas.openxmlformats.org/presentationml/2006/main">
  <p:tag name="KSO_WM_DIAGRAM_VIRTUALLY_FRAME" val="{&quot;height&quot;:117.35999999999999,&quot;left&quot;:75.6,&quot;top&quot;:93.6,&quot;width&quot;:619.2}"/>
</p:tagLst>
</file>

<file path=ppt/tags/tag102.xml><?xml version="1.0" encoding="utf-8"?>
<p:tagLst xmlns:p="http://schemas.openxmlformats.org/presentationml/2006/main">
  <p:tag name="KSO_WM_DIAGRAM_VIRTUALLY_FRAME" val="{&quot;height&quot;:117.35999999999999,&quot;left&quot;:75.6,&quot;top&quot;:93.6,&quot;width&quot;:619.2}"/>
</p:tagLst>
</file>

<file path=ppt/tags/tag103.xml><?xml version="1.0" encoding="utf-8"?>
<p:tagLst xmlns:p="http://schemas.openxmlformats.org/presentationml/2006/main">
  <p:tag name="KSO_WM_DIAGRAM_VIRTUALLY_FRAME" val="{&quot;height&quot;:117.35999999999999,&quot;left&quot;:75.6,&quot;top&quot;:93.6,&quot;width&quot;:619.2}"/>
</p:tagLst>
</file>

<file path=ppt/tags/tag104.xml><?xml version="1.0" encoding="utf-8"?>
<p:tagLst xmlns:p="http://schemas.openxmlformats.org/presentationml/2006/main">
  <p:tag name="KSO_WM_DIAGRAM_VIRTUALLY_FRAME" val="{&quot;height&quot;:117.35999999999999,&quot;left&quot;:75.6,&quot;top&quot;:93.6,&quot;width&quot;:619.2}"/>
</p:tagLst>
</file>

<file path=ppt/tags/tag105.xml><?xml version="1.0" encoding="utf-8"?>
<p:tagLst xmlns:p="http://schemas.openxmlformats.org/presentationml/2006/main">
  <p:tag name="KSO_WM_DIAGRAM_VIRTUALLY_FRAME" val="{&quot;height&quot;:117.35999999999999,&quot;left&quot;:75.6,&quot;top&quot;:93.6,&quot;width&quot;:619.2}"/>
</p:tagLst>
</file>

<file path=ppt/tags/tag106.xml><?xml version="1.0" encoding="utf-8"?>
<p:tagLst xmlns:p="http://schemas.openxmlformats.org/presentationml/2006/main">
  <p:tag name="KSO_WM_DIAGRAM_VIRTUALLY_FRAME" val="{&quot;height&quot;:117.35999999999999,&quot;left&quot;:75.6,&quot;top&quot;:93.6,&quot;width&quot;:619.2}"/>
</p:tagLst>
</file>

<file path=ppt/tags/tag107.xml><?xml version="1.0" encoding="utf-8"?>
<p:tagLst xmlns:p="http://schemas.openxmlformats.org/presentationml/2006/main">
  <p:tag name="KSO_WM_DIAGRAM_VIRTUALLY_FRAME" val="{&quot;height&quot;:117.35999999999999,&quot;left&quot;:75.6,&quot;top&quot;:93.6,&quot;width&quot;:619.2}"/>
</p:tagLst>
</file>

<file path=ppt/tags/tag108.xml><?xml version="1.0" encoding="utf-8"?>
<p:tagLst xmlns:p="http://schemas.openxmlformats.org/presentationml/2006/main">
  <p:tag name="KSO_WM_DIAGRAM_VIRTUALLY_FRAME" val="{&quot;height&quot;:117.35999999999999,&quot;left&quot;:75.6,&quot;top&quot;:93.6,&quot;width&quot;:619.2}"/>
</p:tagLst>
</file>

<file path=ppt/tags/tag109.xml><?xml version="1.0" encoding="utf-8"?>
<p:tagLst xmlns:p="http://schemas.openxmlformats.org/presentationml/2006/main">
  <p:tag name="KSO_WM_DIAGRAM_VIRTUALLY_FRAME" val="{&quot;height&quot;:117.35999999999999,&quot;left&quot;:75.6,&quot;top&quot;:93.6,&quot;width&quot;:619.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6022</Words>
  <Application>WPS Presentation</Application>
  <PresentationFormat>On-screen Show (16:9)</PresentationFormat>
  <Paragraphs>274</Paragraphs>
  <Slides>12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Arial</vt:lpstr>
      <vt:lpstr>SimSun</vt:lpstr>
      <vt:lpstr>Wingdings</vt:lpstr>
      <vt:lpstr>Times New Roman</vt:lpstr>
      <vt:lpstr>Calibri</vt:lpstr>
      <vt:lpstr>Calibri</vt:lpstr>
      <vt:lpstr>Calibri</vt:lpstr>
      <vt:lpstr>Cambria</vt:lpstr>
      <vt:lpstr>Arial</vt:lpstr>
      <vt:lpstr>Microsoft YaHei</vt:lpstr>
      <vt:lpstr>Arial Unicode MS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Diabetes Prediction Using Machine Learning</dc:title>
  <dc:creator>PptxGenJS</dc:creator>
  <dc:subject>PptxGenJS Presentation</dc:subject>
  <cp:lastModifiedBy>Prem Chand</cp:lastModifiedBy>
  <cp:revision>7</cp:revision>
  <dcterms:created xsi:type="dcterms:W3CDTF">2026-04-09T19:24:00Z</dcterms:created>
  <dcterms:modified xsi:type="dcterms:W3CDTF">2026-04-10T03:30:11Z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DB5564BA2C30425DABAFB7FBC6BCD983_13</vt:lpwstr>
  </property>
  <property fmtid="{D5CDD505-2E9C-101B-9397-08002B2CF9AE}" pid="3" name="KSOProductBuildVer">
    <vt:lpwstr>2057-12.2.0.23201</vt:lpwstr>
  </property>
</Properties>
</file>